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ee861132be4a25" /><Relationship Type="http://schemas.openxmlformats.org/officeDocument/2006/relationships/extended-properties" Target="/docProps/app.xml" Id="R02c371f78b4f4120" /><Relationship Type="http://schemas.openxmlformats.org/officeDocument/2006/relationships/officeDocument" Target="/ppt/presentation.xml" Id="R043940d457b5469c" /></Relationships>
</file>

<file path=ppt/presentation.xml><?xml version="1.0" encoding="utf-8"?>
<p:presentation xmlns:p="http://schemas.openxmlformats.org/presentationml/2006/main">
  <p:sldMasterIdLst>
    <p:sldMasterId xmlns:r="http://schemas.openxmlformats.org/officeDocument/2006/relationships" id="2147483648" r:id="R75cd27a6618c488b"/>
  </p:sldMasterIdLst>
  <p:notesMasterIdLst>
    <p:notesMasterId xmlns:r="http://schemas.openxmlformats.org/officeDocument/2006/relationships" r:id="R5854bf99556b4e7f"/>
  </p:notesMasterIdLst>
  <p:sldIdLst>
    <p:sldId xmlns:r="http://schemas.openxmlformats.org/officeDocument/2006/relationships" id="256" r:id="Rb66eecf62678470a"/>
    <p:sldId xmlns:r="http://schemas.openxmlformats.org/officeDocument/2006/relationships" id="257" r:id="R5d85378325a54f79"/>
    <p:sldId xmlns:r="http://schemas.openxmlformats.org/officeDocument/2006/relationships" id="258" r:id="Rda4b691a1a334b47"/>
    <p:sldId xmlns:r="http://schemas.openxmlformats.org/officeDocument/2006/relationships" id="259" r:id="Rb14d870edabf455c"/>
    <p:sldId xmlns:r="http://schemas.openxmlformats.org/officeDocument/2006/relationships" id="260" r:id="Rc9fb940c29804f7f"/>
    <p:sldId xmlns:r="http://schemas.openxmlformats.org/officeDocument/2006/relationships" id="261" r:id="R3e88985ee8ba4222"/>
    <p:sldId xmlns:r="http://schemas.openxmlformats.org/officeDocument/2006/relationships" id="262" r:id="R6b11eb2cae01417a"/>
    <p:sldId xmlns:r="http://schemas.openxmlformats.org/officeDocument/2006/relationships" id="263" r:id="R270fade3a443451e"/>
    <p:sldId xmlns:r="http://schemas.openxmlformats.org/officeDocument/2006/relationships" id="264" r:id="R635edf30fd8142a2"/>
    <p:sldId xmlns:r="http://schemas.openxmlformats.org/officeDocument/2006/relationships" id="265" r:id="R41d200ba34774a8e"/>
    <p:sldId xmlns:r="http://schemas.openxmlformats.org/officeDocument/2006/relationships" id="266" r:id="R5adc13a580cf443e"/>
    <p:sldId xmlns:r="http://schemas.openxmlformats.org/officeDocument/2006/relationships" id="267" r:id="R8f1b1a3255a54dd3"/>
    <p:sldId xmlns:r="http://schemas.openxmlformats.org/officeDocument/2006/relationships" id="268" r:id="Rb6f57b2f02044504"/>
    <p:sldId xmlns:r="http://schemas.openxmlformats.org/officeDocument/2006/relationships" id="269" r:id="R8944ca3247744b78"/>
    <p:sldId xmlns:r="http://schemas.openxmlformats.org/officeDocument/2006/relationships" id="270" r:id="Raf6113faf8624a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01fff3a1fa6444e" /><Relationship Type="http://schemas.openxmlformats.org/officeDocument/2006/relationships/slideMaster" Target="/ppt/slideMasters/slideMaster1.xml" Id="R75cd27a6618c488b" /><Relationship Type="http://schemas.openxmlformats.org/officeDocument/2006/relationships/notesMaster" Target="/ppt/notesMasters/notesMaster1.xml" Id="R5854bf99556b4e7f" /><Relationship Type="http://schemas.openxmlformats.org/officeDocument/2006/relationships/presProps" Target="/ppt/presProps.xml" Id="Red17aae1d7ce4b37" /><Relationship Type="http://schemas.openxmlformats.org/officeDocument/2006/relationships/viewProps" Target="/ppt/viewProps.xml" Id="R0309aeeb48f0438c" /><Relationship Type="http://schemas.openxmlformats.org/officeDocument/2006/relationships/tableStyles" Target="/ppt/tableStyles.xml" Id="Ra21f0a5b98ae4307" /><Relationship Type="http://schemas.openxmlformats.org/officeDocument/2006/relationships/slide" Target="/ppt/slides/slide1.xml" Id="Rb66eecf62678470a" /><Relationship Type="http://schemas.openxmlformats.org/officeDocument/2006/relationships/slide" Target="/ppt/slides/slide2.xml" Id="R5d85378325a54f79" /><Relationship Type="http://schemas.openxmlformats.org/officeDocument/2006/relationships/slide" Target="/ppt/slides/slide3.xml" Id="Rda4b691a1a334b47" /><Relationship Type="http://schemas.openxmlformats.org/officeDocument/2006/relationships/slide" Target="/ppt/slides/slide4.xml" Id="Rb14d870edabf455c" /><Relationship Type="http://schemas.openxmlformats.org/officeDocument/2006/relationships/slide" Target="/ppt/slides/slide5.xml" Id="Rc9fb940c29804f7f" /><Relationship Type="http://schemas.openxmlformats.org/officeDocument/2006/relationships/slide" Target="/ppt/slides/slide6.xml" Id="R3e88985ee8ba4222" /><Relationship Type="http://schemas.openxmlformats.org/officeDocument/2006/relationships/slide" Target="/ppt/slides/slide7.xml" Id="R6b11eb2cae01417a" /><Relationship Type="http://schemas.openxmlformats.org/officeDocument/2006/relationships/slide" Target="/ppt/slides/slide8.xml" Id="R270fade3a443451e" /><Relationship Type="http://schemas.openxmlformats.org/officeDocument/2006/relationships/slide" Target="/ppt/slides/slide9.xml" Id="R635edf30fd8142a2" /><Relationship Type="http://schemas.openxmlformats.org/officeDocument/2006/relationships/slide" Target="/ppt/slides/slide10.xml" Id="R41d200ba34774a8e" /><Relationship Type="http://schemas.openxmlformats.org/officeDocument/2006/relationships/slide" Target="/ppt/slides/slide11.xml" Id="R5adc13a580cf443e" /><Relationship Type="http://schemas.openxmlformats.org/officeDocument/2006/relationships/slide" Target="/ppt/slides/slide12.xml" Id="R8f1b1a3255a54dd3" /><Relationship Type="http://schemas.openxmlformats.org/officeDocument/2006/relationships/slide" Target="/ppt/slides/slide13.xml" Id="Rb6f57b2f02044504" /><Relationship Type="http://schemas.openxmlformats.org/officeDocument/2006/relationships/slide" Target="/ppt/slides/slide14.xml" Id="R8944ca3247744b78" /><Relationship Type="http://schemas.openxmlformats.org/officeDocument/2006/relationships/slide" Target="/ppt/slides/slide15.xml" Id="Raf6113faf8624a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d4b7dbef8941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95665059b64e53" /><Relationship Type="http://schemas.openxmlformats.org/officeDocument/2006/relationships/notesMaster" Target="/ppt/notesMasters/notesMaster1.xml" Id="R14630a8f94ba40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02481535304b4c" /><Relationship Type="http://schemas.openxmlformats.org/officeDocument/2006/relationships/notesMaster" Target="/ppt/notesMasters/notesMaster1.xml" Id="Reea145002d1944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6b46b5054e4425" /><Relationship Type="http://schemas.openxmlformats.org/officeDocument/2006/relationships/notesMaster" Target="/ppt/notesMasters/notesMaster1.xml" Id="R8c6dc00379834c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ea8f60947d438d" /><Relationship Type="http://schemas.openxmlformats.org/officeDocument/2006/relationships/notesMaster" Target="/ppt/notesMasters/notesMaster1.xml" Id="R8b4bd00b23444f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0138a6260344e6" /><Relationship Type="http://schemas.openxmlformats.org/officeDocument/2006/relationships/notesMaster" Target="/ppt/notesMasters/notesMaster1.xml" Id="R08567352ad734b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600f4dbe1e4674" /><Relationship Type="http://schemas.openxmlformats.org/officeDocument/2006/relationships/notesMaster" Target="/ppt/notesMasters/notesMaster1.xml" Id="Re759599a45b640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9a5a6366414b3d" /><Relationship Type="http://schemas.openxmlformats.org/officeDocument/2006/relationships/notesMaster" Target="/ppt/notesMasters/notesMaster1.xml" Id="Rd3a78f72ca594b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b4a0d0417247e2" /><Relationship Type="http://schemas.openxmlformats.org/officeDocument/2006/relationships/notesMaster" Target="/ppt/notesMasters/notesMaster1.xml" Id="R705ed00fd37140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d91459714c4200" /><Relationship Type="http://schemas.openxmlformats.org/officeDocument/2006/relationships/notesMaster" Target="/ppt/notesMasters/notesMaster1.xml" Id="R08e8bbff53014e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5d310e3a364f9e" /><Relationship Type="http://schemas.openxmlformats.org/officeDocument/2006/relationships/notesMaster" Target="/ppt/notesMasters/notesMaster1.xml" Id="R07221a6a951e46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28dcb2dfb2409f" /><Relationship Type="http://schemas.openxmlformats.org/officeDocument/2006/relationships/notesMaster" Target="/ppt/notesMasters/notesMaster1.xml" Id="Rc4493ce62cb74f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225ab9c0424d4c" /><Relationship Type="http://schemas.openxmlformats.org/officeDocument/2006/relationships/notesMaster" Target="/ppt/notesMasters/notesMaster1.xml" Id="R42104326550d41c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3f09bc2f8a4148" /><Relationship Type="http://schemas.openxmlformats.org/officeDocument/2006/relationships/notesMaster" Target="/ppt/notesMasters/notesMaster1.xml" Id="R6ef380bfa08e48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e2b10009944d7d" /><Relationship Type="http://schemas.openxmlformats.org/officeDocument/2006/relationships/notesMaster" Target="/ppt/notesMasters/notesMaster1.xml" Id="R1c319d932f8e427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d31fd6d5354ef2" /><Relationship Type="http://schemas.openxmlformats.org/officeDocument/2006/relationships/notesMaster" Target="/ppt/notesMasters/notesMaster1.xml" Id="R04e681ec12a243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the ERF System tutorial. I’ll show you how to create, file, approve, and review an expense report. Follow each screen in order, and pause whenever you need more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process starts with account setup and expense entry. The report is then filed, reviewed by the manager, and checked by Finance. Let’s go through each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Enter your username and password. Check that both are correct, then click Login. Use Cancel if you want to close the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ERF main page. Confirm your user and department at the bottom of the screen. Use the menu or shortcut buttons at the top to open a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Account Settings and review your information. Update only the fields you are allowed to change. Click Save when the details are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Change Password to update your login credentials. Open Email Setup to configure your work email. Check the information before saving.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Signatory setup and select the correct approver. Check the name before saving because this determines where your report will be 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expense-entry form. Complete the report details using your receipt or supporting documents. Review the information before adding expense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Enter the date, amount, description, and other required details. Compare the entry with the receipt, then click Save. Repeat this step for every expense.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Managers open the Approval Review form and select a report from the list. Check the employee, expense details, and supporting information before taking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correct approval action after reviewing the report. Confirm that you selected the correct employee and transaction. Check that the system records the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completed report in the Send or Print window. Check the recipient or printer settings, then choose Send or Print as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Finance selects the correct report and reviews its details and receipt status. Add a remark when needed. Click Receipts Received only after the physical receipts have been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Send in the report’s SMS column. Check the recipients and preview the message. If everything is correct, click Send.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Employees create and file the report. Managers review and decide, while Finance verifies the report and receipts. Always check that you are working with the correct transaction.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d5dbf0b20442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681013f21e41d9" /><Relationship Type="http://schemas.openxmlformats.org/officeDocument/2006/relationships/slideLayout" Target="/ppt/slideLayouts/slideLayout1.xml" Id="Re9a223d4b84649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a223d4b84649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f87a1b107244b6" /><Relationship Type="http://schemas.openxmlformats.org/officeDocument/2006/relationships/notesSlide" Target="/ppt/notesSlides/notesSlide1.xml" Id="R1ab6a3f637dd4f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f8bf83b76f47b4" /><Relationship Type="http://schemas.openxmlformats.org/officeDocument/2006/relationships/notesSlide" Target="/ppt/notesSlides/notesSlide2.xml" Id="R395f76dc85f543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d67243a3c54495" /><Relationship Type="http://schemas.openxmlformats.org/officeDocument/2006/relationships/image" Target="/ppt/media/image.png" Id="R76d54bb9645f4478" /><Relationship Type="http://schemas.openxmlformats.org/officeDocument/2006/relationships/notesSlide" Target="/ppt/notesSlides/notesSlide3.xml" Id="R4ebbc405cb9243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34bb09ebe94e20" /><Relationship Type="http://schemas.openxmlformats.org/officeDocument/2006/relationships/image" Target="/ppt/media/image2.png" Id="R334015db3ca1458f" /><Relationship Type="http://schemas.openxmlformats.org/officeDocument/2006/relationships/notesSlide" Target="/ppt/notesSlides/notesSlide4.xml" Id="Rfb77299561db46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a8fd9a1a8b4db3" /><Relationship Type="http://schemas.openxmlformats.org/officeDocument/2006/relationships/image" Target="/ppt/media/image3.png" Id="Ref34b9dfc7a74b3d" /><Relationship Type="http://schemas.openxmlformats.org/officeDocument/2006/relationships/notesSlide" Target="/ppt/notesSlides/notesSlide5.xml" Id="Rb5ae951a689a4e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b01ee882104a5e" /><Relationship Type="http://schemas.openxmlformats.org/officeDocument/2006/relationships/image" Target="/ppt/media/image4.png" Id="R2e19b78e372e4de7" /><Relationship Type="http://schemas.openxmlformats.org/officeDocument/2006/relationships/notesSlide" Target="/ppt/notesSlides/notesSlide6.xml" Id="Rbee418e0ebe04e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c1a7bf92e924f2d" /><Relationship Type="http://schemas.openxmlformats.org/officeDocument/2006/relationships/image" Target="/ppt/media/image5.png" Id="R378dbc57cc1549a5" /><Relationship Type="http://schemas.openxmlformats.org/officeDocument/2006/relationships/notesSlide" Target="/ppt/notesSlides/notesSlide7.xml" Id="R3eada904bd134e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eaae82d8504bbd" /><Relationship Type="http://schemas.openxmlformats.org/officeDocument/2006/relationships/image" Target="/ppt/media/image6.png" Id="Rc3f9bd5de4ab4d28" /><Relationship Type="http://schemas.openxmlformats.org/officeDocument/2006/relationships/notesSlide" Target="/ppt/notesSlides/notesSlide8.xml" Id="R96ab296644fc4b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704c30a36d42ff" /><Relationship Type="http://schemas.openxmlformats.org/officeDocument/2006/relationships/image" Target="/ppt/media/image7.png" Id="R11999a1a7f384218" /><Relationship Type="http://schemas.openxmlformats.org/officeDocument/2006/relationships/notesSlide" Target="/ppt/notesSlides/notesSlide9.xml" Id="R4c2542a8cfa249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e76cd3bbf384762" /><Relationship Type="http://schemas.openxmlformats.org/officeDocument/2006/relationships/image" Target="/ppt/media/image8.png" Id="Rcfd8a74608f14802" /><Relationship Type="http://schemas.openxmlformats.org/officeDocument/2006/relationships/notesSlide" Target="/ppt/notesSlides/notesSlide10.xml" Id="R5b2d84a96d804b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72bd771aab4e6f" /><Relationship Type="http://schemas.openxmlformats.org/officeDocument/2006/relationships/image" Target="/ppt/media/image9.png" Id="R4ca40066178b4234" /><Relationship Type="http://schemas.openxmlformats.org/officeDocument/2006/relationships/notesSlide" Target="/ppt/notesSlides/notesSlide11.xml" Id="Rf2beb9ae8db649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65723a8666a4e77" /><Relationship Type="http://schemas.openxmlformats.org/officeDocument/2006/relationships/image" Target="/ppt/media/image10.png" Id="R52c22efe76bf4f1b" /><Relationship Type="http://schemas.openxmlformats.org/officeDocument/2006/relationships/notesSlide" Target="/ppt/notesSlides/notesSlide12.xml" Id="R719cfd39b04547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62631ecaed44c6a" /><Relationship Type="http://schemas.openxmlformats.org/officeDocument/2006/relationships/image" Target="/ppt/media/image11.png" Id="R6c170fca7ebd46e1" /><Relationship Type="http://schemas.openxmlformats.org/officeDocument/2006/relationships/notesSlide" Target="/ppt/notesSlides/notesSlide13.xml" Id="Ra90a3384c32a47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a91ccfd913407a" /><Relationship Type="http://schemas.openxmlformats.org/officeDocument/2006/relationships/image" Target="/ppt/media/image12.png" Id="Ra7a4cdd03b624217" /><Relationship Type="http://schemas.openxmlformats.org/officeDocument/2006/relationships/notesSlide" Target="/ppt/notesSlides/notesSlide14.xml" Id="R64ded7f47d014d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9ac210caf9f4c6c" /><Relationship Type="http://schemas.openxmlformats.org/officeDocument/2006/relationships/notesSlide" Target="/ppt/notesSlides/notesSlide15.xml" Id="R0d38a48123dc41a5" /></Relationships>
</file>

<file path=ppt/slides/slide1.xml><?xml version="1.0" encoding="utf-8"?>
<p:sld xmlns:p="http://schemas.openxmlformats.org/presentationml/2006/main">
  <p:cSld>
    <p:bg>
      <p:bgPr>
        <a:solidFill xmlns:a="http://schemas.openxmlformats.org/drawingml/2006/main">
          <a:srgbClr val="092B52"/>
        </a:solidFill>
      </p:bgPr>
    </p:bg>
    <p:spTree>
      <p:nvGrpSpPr>
        <p:cNvPr id="1" name=""/>
        <p:cNvGrpSpPr/>
        <p:nvPr/>
      </p:nvGrpSpPr>
      <p:grpSpPr>
        <a:xfrm xmlns:a="http://schemas.openxmlformats.org/drawingml/2006/main"/>
      </p:grpSpPr>
      <p:sp>
        <p:nvSpPr>
          <p:cNvPr id="6" name="Straight Connector 5">
            <a:extLst xmlns:a="http://schemas.openxmlformats.org/drawingml/2006/main">
              <a:ext uri="{FF2B5EF4-FFF2-40B4-BE49-F238E27FC236}">
                <a16:creationId xmlns:a16="http://schemas.microsoft.com/office/drawing/2014/main" id="{3EC4CA46-D83E-4B87-A7F7-2D7DBE2D985C}"/>
              </a:ext>
            </a:extLst>
          </p:cNvPr>
          <p:cNvSpPr>
            <a:spLocks xmlns:a="http://schemas.openxmlformats.org/drawingml/2006/main" noGrp="1"/>
          </p:cNvSpPr>
          <p:nvPr/>
        </p:nvSpPr>
        <p:spPr>
          <a:xfrm xmlns:a="http://schemas.openxmlformats.org/drawingml/2006/main">
            <a:off x="514350" y="400050"/>
            <a:ext cx="11163300" cy="9525"/>
          </a:xfrm>
          <a:prstGeom xmlns:a="http://schemas.openxmlformats.org/drawingml/2006/main" prst="line">
            <a:avLst/>
          </a:prstGeom>
          <a:noFill xmlns:a="http://schemas.openxmlformats.org/drawingml/2006/main"/>
          <a:ln xmlns:a="http://schemas.openxmlformats.org/drawingml/2006/main" w="9525">
            <a:solidFill>
              <a:srgbClr val="82A4C7"/>
            </a:solid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8D560CEA-61AF-4979-9303-AE432E498B03}"/>
              </a:ext>
            </a:extLst>
          </p:cNvPr>
          <p:cNvSpPr>
            <a:spLocks xmlns:a="http://schemas.openxmlformats.org/drawingml/2006/main" noGrp="1"/>
          </p:cNvSpPr>
          <p:nvPr/>
        </p:nvSpPr>
        <p:spPr>
          <a:xfrm xmlns:a="http://schemas.openxmlformats.org/drawingml/2006/main">
            <a:off x="514350" y="219075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050" b="0">
                <a:solidFill>
                  <a:srgbClr val="FFFFFF"/>
                </a:solidFill>
              </a:defRPr>
            </a:pPr>
            <a:r>
              <a:rPr sz="4050" b="0">
                <a:solidFill>
                  <a:srgbClr val="FFFFFF"/>
                </a:solidFill>
              </a:rPr>
              <a:t>ERF System Introduction</a:t>
            </a:r>
          </a:p>
        </p:txBody>
      </p:sp>
      <p:sp>
        <p:nvSpPr>
          <p:cNvPr id="4" name="Rectangle 3">
            <a:extLst xmlns:a="http://schemas.openxmlformats.org/drawingml/2006/main">
              <a:ext uri="{FF2B5EF4-FFF2-40B4-BE49-F238E27FC236}">
                <a16:creationId xmlns:a16="http://schemas.microsoft.com/office/drawing/2014/main" id="{BCEC7981-E33B-4084-BF63-BCDACADD1F97}"/>
              </a:ext>
            </a:extLst>
          </p:cNvPr>
          <p:cNvSpPr>
            <a:spLocks xmlns:a="http://schemas.openxmlformats.org/drawingml/2006/main" noGrp="1"/>
          </p:cNvSpPr>
          <p:nvPr/>
        </p:nvSpPr>
        <p:spPr>
          <a:xfrm xmlns:a="http://schemas.openxmlformats.org/drawingml/2006/main">
            <a:off x="552450" y="3257550"/>
            <a:ext cx="809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0">
                <a:solidFill>
                  <a:srgbClr val="B7D0E8"/>
                </a:solidFill>
              </a:defRPr>
            </a:pPr>
            <a:r>
              <a:rPr sz="1800" b="0">
                <a:solidFill>
                  <a:srgbClr val="B7D0E8"/>
                </a:solidFill>
              </a:rPr>
              <a:t>A guided walkthrough for expense filers and approving managers</a:t>
            </a:r>
          </a:p>
        </p:txBody>
      </p:sp>
    </p:spTree>
    <p:extLst>
      <p:ext uri="{BB962C8B-B14F-4D97-AF65-F5344CB8AC3E}">
        <p14:creationId xmlns:p14="http://schemas.microsoft.com/office/powerpoint/2010/main" val="9675899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A7D35425-37AE-4388-B8D4-C42FD0F65FC0}"/>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WORKFLOW OVERVIEW</a:t>
            </a:r>
          </a:p>
        </p:txBody>
      </p:sp>
      <p:sp>
        <p:nvSpPr>
          <p:cNvPr id="2" name="Rectangle 1">
            <a:extLst xmlns:a="http://schemas.openxmlformats.org/drawingml/2006/main">
              <a:ext uri="{FF2B5EF4-FFF2-40B4-BE49-F238E27FC236}">
                <a16:creationId xmlns:a16="http://schemas.microsoft.com/office/drawing/2014/main" id="{67F99D1F-3684-497A-B41B-D6420DE9B3F6}"/>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The ERF workflow moves from setup to filing and approval</a:t>
            </a:r>
          </a:p>
        </p:txBody>
      </p:sp>
      <p:sp>
        <p:nvSpPr>
          <p:cNvPr id="3" name="Straight Connector 2">
            <a:extLst xmlns:a="http://schemas.openxmlformats.org/drawingml/2006/main">
              <a:ext uri="{FF2B5EF4-FFF2-40B4-BE49-F238E27FC236}">
                <a16:creationId xmlns:a16="http://schemas.microsoft.com/office/drawing/2014/main" id="{04439D6E-52D7-4357-AA49-DD198645186B}"/>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39488E3C-9876-4292-BF3D-EE768EC0CD7A}"/>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2</a:t>
            </a:r>
          </a:p>
        </p:txBody>
      </p:sp>
      <p:sp>
        <p:nvSpPr>
          <p:cNvPr id="5" name="Oval 4">
            <a:extLst xmlns:a="http://schemas.openxmlformats.org/drawingml/2006/main">
              <a:ext uri="{FF2B5EF4-FFF2-40B4-BE49-F238E27FC236}">
                <a16:creationId xmlns:a16="http://schemas.microsoft.com/office/drawing/2014/main" id="{2A066E9C-E5C6-4503-8C44-06D367A0DAD9}"/>
              </a:ext>
            </a:extLst>
          </p:cNvPr>
          <p:cNvSpPr>
            <a:spLocks xmlns:a="http://schemas.openxmlformats.org/drawingml/2006/main" noGrp="1"/>
          </p:cNvSpPr>
          <p:nvPr/>
        </p:nvSpPr>
        <p:spPr>
          <a:xfrm xmlns:a="http://schemas.openxmlformats.org/drawingml/2006/main">
            <a:off x="514350" y="1866900"/>
            <a:ext cx="457200" cy="457200"/>
          </a:xfrm>
          <a:prstGeom xmlns:a="http://schemas.openxmlformats.org/drawingml/2006/main" prst="ellipse">
            <a:avLst/>
          </a:prstGeom>
          <a:solidFill xmlns:a="http://schemas.openxmlformats.org/drawingml/2006/main">
            <a:srgbClr val="1267D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49F18AC4-C499-4392-B261-C5AE2305E611}"/>
              </a:ext>
            </a:extLst>
          </p:cNvPr>
          <p:cNvSpPr>
            <a:spLocks xmlns:a="http://schemas.openxmlformats.org/drawingml/2006/main" noGrp="1"/>
          </p:cNvSpPr>
          <p:nvPr/>
        </p:nvSpPr>
        <p:spPr>
          <a:xfrm xmlns:a="http://schemas.openxmlformats.org/drawingml/2006/main">
            <a:off x="514350" y="1962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FFFF"/>
                </a:solidFill>
              </a:defRPr>
            </a:pPr>
            <a:r>
              <a:rPr sz="1350" b="1">
                <a:solidFill>
                  <a:srgbClr val="FFFFFF"/>
                </a:solidFill>
              </a:rPr>
              <a:t>1</a:t>
            </a:r>
          </a:p>
        </p:txBody>
      </p:sp>
      <p:sp>
        <p:nvSpPr>
          <p:cNvPr id="7" name="Rectangle 6">
            <a:extLst xmlns:a="http://schemas.openxmlformats.org/drawingml/2006/main">
              <a:ext uri="{FF2B5EF4-FFF2-40B4-BE49-F238E27FC236}">
                <a16:creationId xmlns:a16="http://schemas.microsoft.com/office/drawing/2014/main" id="{0648884E-DA1F-49E9-9EEA-F1A08F13C590}"/>
              </a:ext>
            </a:extLst>
          </p:cNvPr>
          <p:cNvSpPr>
            <a:spLocks xmlns:a="http://schemas.openxmlformats.org/drawingml/2006/main" noGrp="1"/>
          </p:cNvSpPr>
          <p:nvPr/>
        </p:nvSpPr>
        <p:spPr>
          <a:xfrm xmlns:a="http://schemas.openxmlformats.org/drawingml/2006/main">
            <a:off x="514350" y="25812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7202A"/>
                </a:solidFill>
              </a:defRPr>
            </a:pPr>
            <a:r>
              <a:rPr sz="1725" b="1">
                <a:solidFill>
                  <a:srgbClr val="17202A"/>
                </a:solidFill>
              </a:rPr>
              <a:t>Sign in</a:t>
            </a:r>
          </a:p>
        </p:txBody>
      </p:sp>
      <p:sp>
        <p:nvSpPr>
          <p:cNvPr id="8" name="Rectangle 7">
            <a:extLst xmlns:a="http://schemas.openxmlformats.org/drawingml/2006/main">
              <a:ext uri="{FF2B5EF4-FFF2-40B4-BE49-F238E27FC236}">
                <a16:creationId xmlns:a16="http://schemas.microsoft.com/office/drawing/2014/main" id="{14912CCB-1377-4C99-9619-212762635B95}"/>
              </a:ext>
            </a:extLst>
          </p:cNvPr>
          <p:cNvSpPr>
            <a:spLocks xmlns:a="http://schemas.openxmlformats.org/drawingml/2006/main" noGrp="1"/>
          </p:cNvSpPr>
          <p:nvPr/>
        </p:nvSpPr>
        <p:spPr>
          <a:xfrm xmlns:a="http://schemas.openxmlformats.org/drawingml/2006/main">
            <a:off x="514350" y="302895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D7187"/>
                </a:solidFill>
              </a:defRPr>
            </a:pPr>
            <a:r>
              <a:rPr sz="1275" b="0">
                <a:solidFill>
                  <a:srgbClr val="5D7187"/>
                </a:solidFill>
              </a:rPr>
              <a:t>Access the ERF System with your assigned credentials.</a:t>
            </a:r>
          </a:p>
        </p:txBody>
      </p:sp>
      <p:sp>
        <p:nvSpPr>
          <p:cNvPr id="9" name="Straight Connector 8">
            <a:extLst xmlns:a="http://schemas.openxmlformats.org/drawingml/2006/main">
              <a:ext uri="{FF2B5EF4-FFF2-40B4-BE49-F238E27FC236}">
                <a16:creationId xmlns:a16="http://schemas.microsoft.com/office/drawing/2014/main" id="{B97FED76-69A0-4A1C-9E55-EFF4CA7AC174}"/>
              </a:ext>
            </a:extLst>
          </p:cNvPr>
          <p:cNvSpPr>
            <a:spLocks xmlns:a="http://schemas.openxmlformats.org/drawingml/2006/main" noGrp="1"/>
          </p:cNvSpPr>
          <p:nvPr/>
        </p:nvSpPr>
        <p:spPr>
          <a:xfrm xmlns:a="http://schemas.openxmlformats.org/drawingml/2006/main">
            <a:off x="1123950" y="2095500"/>
            <a:ext cx="1428750" cy="9525"/>
          </a:xfrm>
          <a:prstGeom xmlns:a="http://schemas.openxmlformats.org/drawingml/2006/main" prst="line">
            <a:avLst/>
          </a:prstGeom>
          <a:noFill xmlns:a="http://schemas.openxmlformats.org/drawingml/2006/main"/>
          <a:ln xmlns:a="http://schemas.openxmlformats.org/drawingml/2006/main" w="19050">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10" name="Oval 9">
            <a:extLst xmlns:a="http://schemas.openxmlformats.org/drawingml/2006/main">
              <a:ext uri="{FF2B5EF4-FFF2-40B4-BE49-F238E27FC236}">
                <a16:creationId xmlns:a16="http://schemas.microsoft.com/office/drawing/2014/main" id="{0F23327A-E6BB-4000-B6C8-0F7F70DF2319}"/>
              </a:ext>
            </a:extLst>
          </p:cNvPr>
          <p:cNvSpPr>
            <a:spLocks xmlns:a="http://schemas.openxmlformats.org/drawingml/2006/main" noGrp="1"/>
          </p:cNvSpPr>
          <p:nvPr/>
        </p:nvSpPr>
        <p:spPr>
          <a:xfrm xmlns:a="http://schemas.openxmlformats.org/drawingml/2006/main">
            <a:off x="2752725" y="1866900"/>
            <a:ext cx="457200" cy="457200"/>
          </a:xfrm>
          <a:prstGeom xmlns:a="http://schemas.openxmlformats.org/drawingml/2006/main" prst="ellipse">
            <a:avLst/>
          </a:prstGeom>
          <a:solidFill xmlns:a="http://schemas.openxmlformats.org/drawingml/2006/main">
            <a:srgbClr val="1267D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FBADDAB7-5742-4EED-9028-6AE73B79D163}"/>
              </a:ext>
            </a:extLst>
          </p:cNvPr>
          <p:cNvSpPr>
            <a:spLocks xmlns:a="http://schemas.openxmlformats.org/drawingml/2006/main" noGrp="1"/>
          </p:cNvSpPr>
          <p:nvPr/>
        </p:nvSpPr>
        <p:spPr>
          <a:xfrm xmlns:a="http://schemas.openxmlformats.org/drawingml/2006/main">
            <a:off x="2752725" y="1962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FFFF"/>
                </a:solidFill>
              </a:defRPr>
            </a:pPr>
            <a:r>
              <a:rPr sz="1350" b="1">
                <a:solidFill>
                  <a:srgbClr val="FFFFFF"/>
                </a:solidFill>
              </a:rPr>
              <a:t>2</a:t>
            </a:r>
          </a:p>
        </p:txBody>
      </p:sp>
      <p:sp>
        <p:nvSpPr>
          <p:cNvPr id="12" name="Rectangle 11">
            <a:extLst xmlns:a="http://schemas.openxmlformats.org/drawingml/2006/main">
              <a:ext uri="{FF2B5EF4-FFF2-40B4-BE49-F238E27FC236}">
                <a16:creationId xmlns:a16="http://schemas.microsoft.com/office/drawing/2014/main" id="{C5960E8C-726E-4E4F-9F41-2A8B55511DDA}"/>
              </a:ext>
            </a:extLst>
          </p:cNvPr>
          <p:cNvSpPr>
            <a:spLocks xmlns:a="http://schemas.openxmlformats.org/drawingml/2006/main" noGrp="1"/>
          </p:cNvSpPr>
          <p:nvPr/>
        </p:nvSpPr>
        <p:spPr>
          <a:xfrm xmlns:a="http://schemas.openxmlformats.org/drawingml/2006/main">
            <a:off x="2752725" y="25812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7202A"/>
                </a:solidFill>
              </a:defRPr>
            </a:pPr>
            <a:r>
              <a:rPr sz="1725" b="1">
                <a:solidFill>
                  <a:srgbClr val="17202A"/>
                </a:solidFill>
              </a:rPr>
              <a:t>Prepare</a:t>
            </a:r>
          </a:p>
        </p:txBody>
      </p:sp>
      <p:sp>
        <p:nvSpPr>
          <p:cNvPr id="13" name="Rectangle 12">
            <a:extLst xmlns:a="http://schemas.openxmlformats.org/drawingml/2006/main">
              <a:ext uri="{FF2B5EF4-FFF2-40B4-BE49-F238E27FC236}">
                <a16:creationId xmlns:a16="http://schemas.microsoft.com/office/drawing/2014/main" id="{8B1BA536-6FA3-4E19-9A59-DBF48243F41F}"/>
              </a:ext>
            </a:extLst>
          </p:cNvPr>
          <p:cNvSpPr>
            <a:spLocks xmlns:a="http://schemas.openxmlformats.org/drawingml/2006/main" noGrp="1"/>
          </p:cNvSpPr>
          <p:nvPr/>
        </p:nvSpPr>
        <p:spPr>
          <a:xfrm xmlns:a="http://schemas.openxmlformats.org/drawingml/2006/main">
            <a:off x="2752725" y="302895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D7187"/>
                </a:solidFill>
              </a:defRPr>
            </a:pPr>
            <a:r>
              <a:rPr sz="1275" b="0">
                <a:solidFill>
                  <a:srgbClr val="5D7187"/>
                </a:solidFill>
              </a:rPr>
              <a:t>Review account, email, password, and signatory settings.</a:t>
            </a:r>
          </a:p>
        </p:txBody>
      </p:sp>
      <p:sp>
        <p:nvSpPr>
          <p:cNvPr id="14" name="Straight Connector 13">
            <a:extLst xmlns:a="http://schemas.openxmlformats.org/drawingml/2006/main">
              <a:ext uri="{FF2B5EF4-FFF2-40B4-BE49-F238E27FC236}">
                <a16:creationId xmlns:a16="http://schemas.microsoft.com/office/drawing/2014/main" id="{A5714AAF-D651-4419-9022-6258C712F9C9}"/>
              </a:ext>
            </a:extLst>
          </p:cNvPr>
          <p:cNvSpPr>
            <a:spLocks xmlns:a="http://schemas.openxmlformats.org/drawingml/2006/main" noGrp="1"/>
          </p:cNvSpPr>
          <p:nvPr/>
        </p:nvSpPr>
        <p:spPr>
          <a:xfrm xmlns:a="http://schemas.openxmlformats.org/drawingml/2006/main">
            <a:off x="3362325" y="2095500"/>
            <a:ext cx="1428750" cy="9525"/>
          </a:xfrm>
          <a:prstGeom xmlns:a="http://schemas.openxmlformats.org/drawingml/2006/main" prst="line">
            <a:avLst/>
          </a:prstGeom>
          <a:noFill xmlns:a="http://schemas.openxmlformats.org/drawingml/2006/main"/>
          <a:ln xmlns:a="http://schemas.openxmlformats.org/drawingml/2006/main" w="19050">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15" name="Oval 14">
            <a:extLst xmlns:a="http://schemas.openxmlformats.org/drawingml/2006/main">
              <a:ext uri="{FF2B5EF4-FFF2-40B4-BE49-F238E27FC236}">
                <a16:creationId xmlns:a16="http://schemas.microsoft.com/office/drawing/2014/main" id="{898EFB75-1AE0-448D-A6C0-CF8092DF9C0E}"/>
              </a:ext>
            </a:extLst>
          </p:cNvPr>
          <p:cNvSpPr>
            <a:spLocks xmlns:a="http://schemas.openxmlformats.org/drawingml/2006/main" noGrp="1"/>
          </p:cNvSpPr>
          <p:nvPr/>
        </p:nvSpPr>
        <p:spPr>
          <a:xfrm xmlns:a="http://schemas.openxmlformats.org/drawingml/2006/main">
            <a:off x="4991100" y="1866900"/>
            <a:ext cx="457200" cy="457200"/>
          </a:xfrm>
          <a:prstGeom xmlns:a="http://schemas.openxmlformats.org/drawingml/2006/main" prst="ellipse">
            <a:avLst/>
          </a:prstGeom>
          <a:solidFill xmlns:a="http://schemas.openxmlformats.org/drawingml/2006/main">
            <a:srgbClr val="1267D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6" name="Rectangle 15">
            <a:extLst xmlns:a="http://schemas.openxmlformats.org/drawingml/2006/main">
              <a:ext uri="{FF2B5EF4-FFF2-40B4-BE49-F238E27FC236}">
                <a16:creationId xmlns:a16="http://schemas.microsoft.com/office/drawing/2014/main" id="{094A1756-4ED9-4ACD-BECD-6AB45D68C802}"/>
              </a:ext>
            </a:extLst>
          </p:cNvPr>
          <p:cNvSpPr>
            <a:spLocks xmlns:a="http://schemas.openxmlformats.org/drawingml/2006/main" noGrp="1"/>
          </p:cNvSpPr>
          <p:nvPr/>
        </p:nvSpPr>
        <p:spPr>
          <a:xfrm xmlns:a="http://schemas.openxmlformats.org/drawingml/2006/main">
            <a:off x="4991100" y="1962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FFFF"/>
                </a:solidFill>
              </a:defRPr>
            </a:pPr>
            <a:r>
              <a:rPr sz="1350" b="1">
                <a:solidFill>
                  <a:srgbClr val="FFFFFF"/>
                </a:solidFill>
              </a:rPr>
              <a:t>3</a:t>
            </a:r>
          </a:p>
        </p:txBody>
      </p:sp>
      <p:sp>
        <p:nvSpPr>
          <p:cNvPr id="17" name="Rectangle 16">
            <a:extLst xmlns:a="http://schemas.openxmlformats.org/drawingml/2006/main">
              <a:ext uri="{FF2B5EF4-FFF2-40B4-BE49-F238E27FC236}">
                <a16:creationId xmlns:a16="http://schemas.microsoft.com/office/drawing/2014/main" id="{2FB366E7-0062-4312-A888-CB9BC0FF3CDD}"/>
              </a:ext>
            </a:extLst>
          </p:cNvPr>
          <p:cNvSpPr>
            <a:spLocks xmlns:a="http://schemas.openxmlformats.org/drawingml/2006/main" noGrp="1"/>
          </p:cNvSpPr>
          <p:nvPr/>
        </p:nvSpPr>
        <p:spPr>
          <a:xfrm xmlns:a="http://schemas.openxmlformats.org/drawingml/2006/main">
            <a:off x="4991100" y="25812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7202A"/>
                </a:solidFill>
              </a:defRPr>
            </a:pPr>
            <a:r>
              <a:rPr sz="1725" b="1">
                <a:solidFill>
                  <a:srgbClr val="17202A"/>
                </a:solidFill>
              </a:rPr>
              <a:t>Create</a:t>
            </a:r>
          </a:p>
        </p:txBody>
      </p:sp>
      <p:sp>
        <p:nvSpPr>
          <p:cNvPr id="18" name="Rectangle 17">
            <a:extLst xmlns:a="http://schemas.openxmlformats.org/drawingml/2006/main">
              <a:ext uri="{FF2B5EF4-FFF2-40B4-BE49-F238E27FC236}">
                <a16:creationId xmlns:a16="http://schemas.microsoft.com/office/drawing/2014/main" id="{2A601833-AE09-40C0-BC02-918145E3A1F1}"/>
              </a:ext>
            </a:extLst>
          </p:cNvPr>
          <p:cNvSpPr>
            <a:spLocks xmlns:a="http://schemas.openxmlformats.org/drawingml/2006/main" noGrp="1"/>
          </p:cNvSpPr>
          <p:nvPr/>
        </p:nvSpPr>
        <p:spPr>
          <a:xfrm xmlns:a="http://schemas.openxmlformats.org/drawingml/2006/main">
            <a:off x="4991100" y="302895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D7187"/>
                </a:solidFill>
              </a:defRPr>
            </a:pPr>
            <a:r>
              <a:rPr sz="1275" b="0">
                <a:solidFill>
                  <a:srgbClr val="5D7187"/>
                </a:solidFill>
              </a:rPr>
              <a:t>Enter expense details and confirm the report output.</a:t>
            </a:r>
          </a:p>
        </p:txBody>
      </p:sp>
      <p:sp>
        <p:nvSpPr>
          <p:cNvPr id="19" name="Straight Connector 18">
            <a:extLst xmlns:a="http://schemas.openxmlformats.org/drawingml/2006/main">
              <a:ext uri="{FF2B5EF4-FFF2-40B4-BE49-F238E27FC236}">
                <a16:creationId xmlns:a16="http://schemas.microsoft.com/office/drawing/2014/main" id="{DFD074D0-4BCB-443E-9072-F56CEE02C012}"/>
              </a:ext>
            </a:extLst>
          </p:cNvPr>
          <p:cNvSpPr>
            <a:spLocks xmlns:a="http://schemas.openxmlformats.org/drawingml/2006/main" noGrp="1"/>
          </p:cNvSpPr>
          <p:nvPr/>
        </p:nvSpPr>
        <p:spPr>
          <a:xfrm xmlns:a="http://schemas.openxmlformats.org/drawingml/2006/main">
            <a:off x="5600700" y="2095500"/>
            <a:ext cx="1428750" cy="9525"/>
          </a:xfrm>
          <a:prstGeom xmlns:a="http://schemas.openxmlformats.org/drawingml/2006/main" prst="line">
            <a:avLst/>
          </a:prstGeom>
          <a:noFill xmlns:a="http://schemas.openxmlformats.org/drawingml/2006/main"/>
          <a:ln xmlns:a="http://schemas.openxmlformats.org/drawingml/2006/main" w="19050">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20" name="Oval 19">
            <a:extLst xmlns:a="http://schemas.openxmlformats.org/drawingml/2006/main">
              <a:ext uri="{FF2B5EF4-FFF2-40B4-BE49-F238E27FC236}">
                <a16:creationId xmlns:a16="http://schemas.microsoft.com/office/drawing/2014/main" id="{48FF52A4-0726-4C5A-A230-E7EACE0DC76D}"/>
              </a:ext>
            </a:extLst>
          </p:cNvPr>
          <p:cNvSpPr>
            <a:spLocks xmlns:a="http://schemas.openxmlformats.org/drawingml/2006/main" noGrp="1"/>
          </p:cNvSpPr>
          <p:nvPr/>
        </p:nvSpPr>
        <p:spPr>
          <a:xfrm xmlns:a="http://schemas.openxmlformats.org/drawingml/2006/main">
            <a:off x="7229475" y="1866900"/>
            <a:ext cx="457200" cy="457200"/>
          </a:xfrm>
          <a:prstGeom xmlns:a="http://schemas.openxmlformats.org/drawingml/2006/main" prst="ellipse">
            <a:avLst/>
          </a:prstGeom>
          <a:solidFill xmlns:a="http://schemas.openxmlformats.org/drawingml/2006/main">
            <a:srgbClr val="092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1" name="Rectangle 20">
            <a:extLst xmlns:a="http://schemas.openxmlformats.org/drawingml/2006/main">
              <a:ext uri="{FF2B5EF4-FFF2-40B4-BE49-F238E27FC236}">
                <a16:creationId xmlns:a16="http://schemas.microsoft.com/office/drawing/2014/main" id="{8FD7F699-A48D-47C1-9625-3B444A8A2F97}"/>
              </a:ext>
            </a:extLst>
          </p:cNvPr>
          <p:cNvSpPr>
            <a:spLocks xmlns:a="http://schemas.openxmlformats.org/drawingml/2006/main" noGrp="1"/>
          </p:cNvSpPr>
          <p:nvPr/>
        </p:nvSpPr>
        <p:spPr>
          <a:xfrm xmlns:a="http://schemas.openxmlformats.org/drawingml/2006/main">
            <a:off x="7229475" y="1962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FFFF"/>
                </a:solidFill>
              </a:defRPr>
            </a:pPr>
            <a:r>
              <a:rPr sz="1350" b="1">
                <a:solidFill>
                  <a:srgbClr val="FFFFFF"/>
                </a:solidFill>
              </a:rPr>
              <a:t>4</a:t>
            </a:r>
          </a:p>
        </p:txBody>
      </p:sp>
      <p:sp>
        <p:nvSpPr>
          <p:cNvPr id="22" name="Rectangle 21">
            <a:extLst xmlns:a="http://schemas.openxmlformats.org/drawingml/2006/main">
              <a:ext uri="{FF2B5EF4-FFF2-40B4-BE49-F238E27FC236}">
                <a16:creationId xmlns:a16="http://schemas.microsoft.com/office/drawing/2014/main" id="{8C0B5A15-55A0-43FD-9509-1A3A24A57F34}"/>
              </a:ext>
            </a:extLst>
          </p:cNvPr>
          <p:cNvSpPr>
            <a:spLocks xmlns:a="http://schemas.openxmlformats.org/drawingml/2006/main" noGrp="1"/>
          </p:cNvSpPr>
          <p:nvPr/>
        </p:nvSpPr>
        <p:spPr>
          <a:xfrm xmlns:a="http://schemas.openxmlformats.org/drawingml/2006/main">
            <a:off x="7229475" y="25812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7202A"/>
                </a:solidFill>
              </a:defRPr>
            </a:pPr>
            <a:r>
              <a:rPr sz="1725" b="1">
                <a:solidFill>
                  <a:srgbClr val="17202A"/>
                </a:solidFill>
              </a:rPr>
              <a:t>File</a:t>
            </a:r>
          </a:p>
        </p:txBody>
      </p:sp>
      <p:sp>
        <p:nvSpPr>
          <p:cNvPr id="23" name="Rectangle 22">
            <a:extLst xmlns:a="http://schemas.openxmlformats.org/drawingml/2006/main">
              <a:ext uri="{FF2B5EF4-FFF2-40B4-BE49-F238E27FC236}">
                <a16:creationId xmlns:a16="http://schemas.microsoft.com/office/drawing/2014/main" id="{920768A3-F876-4BDB-9E6B-66C5D80CB88C}"/>
              </a:ext>
            </a:extLst>
          </p:cNvPr>
          <p:cNvSpPr>
            <a:spLocks xmlns:a="http://schemas.openxmlformats.org/drawingml/2006/main" noGrp="1"/>
          </p:cNvSpPr>
          <p:nvPr/>
        </p:nvSpPr>
        <p:spPr>
          <a:xfrm xmlns:a="http://schemas.openxmlformats.org/drawingml/2006/main">
            <a:off x="7229475" y="302895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D7187"/>
                </a:solidFill>
              </a:defRPr>
            </a:pPr>
            <a:r>
              <a:rPr sz="1275" b="0">
                <a:solidFill>
                  <a:srgbClr val="5D7187"/>
                </a:solidFill>
              </a:rPr>
              <a:t>Submit the report for manager review and approval.</a:t>
            </a:r>
          </a:p>
        </p:txBody>
      </p:sp>
      <p:sp>
        <p:nvSpPr>
          <p:cNvPr id="24" name="Straight Connector 23">
            <a:extLst xmlns:a="http://schemas.openxmlformats.org/drawingml/2006/main">
              <a:ext uri="{FF2B5EF4-FFF2-40B4-BE49-F238E27FC236}">
                <a16:creationId xmlns:a16="http://schemas.microsoft.com/office/drawing/2014/main" id="{972E1FBE-3373-4531-89DF-D2A8DED35AE6}"/>
              </a:ext>
            </a:extLst>
          </p:cNvPr>
          <p:cNvSpPr>
            <a:spLocks xmlns:a="http://schemas.openxmlformats.org/drawingml/2006/main" noGrp="1"/>
          </p:cNvSpPr>
          <p:nvPr/>
        </p:nvSpPr>
        <p:spPr>
          <a:xfrm xmlns:a="http://schemas.openxmlformats.org/drawingml/2006/main">
            <a:off x="7839075" y="2095500"/>
            <a:ext cx="1428750" cy="9525"/>
          </a:xfrm>
          <a:prstGeom xmlns:a="http://schemas.openxmlformats.org/drawingml/2006/main" prst="line">
            <a:avLst/>
          </a:prstGeom>
          <a:noFill xmlns:a="http://schemas.openxmlformats.org/drawingml/2006/main"/>
          <a:ln xmlns:a="http://schemas.openxmlformats.org/drawingml/2006/main" w="19050">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25" name="Oval 24">
            <a:extLst xmlns:a="http://schemas.openxmlformats.org/drawingml/2006/main">
              <a:ext uri="{FF2B5EF4-FFF2-40B4-BE49-F238E27FC236}">
                <a16:creationId xmlns:a16="http://schemas.microsoft.com/office/drawing/2014/main" id="{B0FDA206-EDBA-4D22-AE4E-1708B03AD652}"/>
              </a:ext>
            </a:extLst>
          </p:cNvPr>
          <p:cNvSpPr>
            <a:spLocks xmlns:a="http://schemas.openxmlformats.org/drawingml/2006/main" noGrp="1"/>
          </p:cNvSpPr>
          <p:nvPr/>
        </p:nvSpPr>
        <p:spPr>
          <a:xfrm xmlns:a="http://schemas.openxmlformats.org/drawingml/2006/main">
            <a:off x="9467850" y="1866900"/>
            <a:ext cx="457200" cy="457200"/>
          </a:xfrm>
          <a:prstGeom xmlns:a="http://schemas.openxmlformats.org/drawingml/2006/main" prst="ellipse">
            <a:avLst/>
          </a:prstGeom>
          <a:solidFill xmlns:a="http://schemas.openxmlformats.org/drawingml/2006/main">
            <a:srgbClr val="1267D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6" name="Rectangle 25">
            <a:extLst xmlns:a="http://schemas.openxmlformats.org/drawingml/2006/main">
              <a:ext uri="{FF2B5EF4-FFF2-40B4-BE49-F238E27FC236}">
                <a16:creationId xmlns:a16="http://schemas.microsoft.com/office/drawing/2014/main" id="{229CCF3C-E9E9-4DE6-BB62-93C5A64E525B}"/>
              </a:ext>
            </a:extLst>
          </p:cNvPr>
          <p:cNvSpPr>
            <a:spLocks xmlns:a="http://schemas.openxmlformats.org/drawingml/2006/main" noGrp="1"/>
          </p:cNvSpPr>
          <p:nvPr/>
        </p:nvSpPr>
        <p:spPr>
          <a:xfrm xmlns:a="http://schemas.openxmlformats.org/drawingml/2006/main">
            <a:off x="9467850" y="1962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FFFF"/>
                </a:solidFill>
              </a:defRPr>
            </a:pPr>
            <a:r>
              <a:rPr sz="1350" b="1">
                <a:solidFill>
                  <a:srgbClr val="FFFFFF"/>
                </a:solidFill>
              </a:rPr>
              <a:t>5</a:t>
            </a:r>
          </a:p>
        </p:txBody>
      </p:sp>
      <p:sp>
        <p:nvSpPr>
          <p:cNvPr id="27" name="Rectangle 26">
            <a:extLst xmlns:a="http://schemas.openxmlformats.org/drawingml/2006/main">
              <a:ext uri="{FF2B5EF4-FFF2-40B4-BE49-F238E27FC236}">
                <a16:creationId xmlns:a16="http://schemas.microsoft.com/office/drawing/2014/main" id="{865AD620-5FBD-4FBA-9990-44C479268DCA}"/>
              </a:ext>
            </a:extLst>
          </p:cNvPr>
          <p:cNvSpPr>
            <a:spLocks xmlns:a="http://schemas.openxmlformats.org/drawingml/2006/main" noGrp="1"/>
          </p:cNvSpPr>
          <p:nvPr/>
        </p:nvSpPr>
        <p:spPr>
          <a:xfrm xmlns:a="http://schemas.openxmlformats.org/drawingml/2006/main">
            <a:off x="9467850" y="25812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7202A"/>
                </a:solidFill>
              </a:defRPr>
            </a:pPr>
            <a:r>
              <a:rPr sz="1725" b="1">
                <a:solidFill>
                  <a:srgbClr val="17202A"/>
                </a:solidFill>
              </a:rPr>
              <a:t>Finish</a:t>
            </a:r>
          </a:p>
        </p:txBody>
      </p:sp>
      <p:sp>
        <p:nvSpPr>
          <p:cNvPr id="28" name="Rectangle 27">
            <a:extLst xmlns:a="http://schemas.openxmlformats.org/drawingml/2006/main">
              <a:ext uri="{FF2B5EF4-FFF2-40B4-BE49-F238E27FC236}">
                <a16:creationId xmlns:a16="http://schemas.microsoft.com/office/drawing/2014/main" id="{410F24D4-6E19-4A96-9BBC-30D99843F270}"/>
              </a:ext>
            </a:extLst>
          </p:cNvPr>
          <p:cNvSpPr>
            <a:spLocks xmlns:a="http://schemas.openxmlformats.org/drawingml/2006/main" noGrp="1"/>
          </p:cNvSpPr>
          <p:nvPr/>
        </p:nvSpPr>
        <p:spPr>
          <a:xfrm xmlns:a="http://schemas.openxmlformats.org/drawingml/2006/main">
            <a:off x="9467850" y="302895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D7187"/>
                </a:solidFill>
              </a:defRPr>
            </a:pPr>
            <a:r>
              <a:rPr sz="1275" b="0">
                <a:solidFill>
                  <a:srgbClr val="5D7187"/>
                </a:solidFill>
              </a:rPr>
              <a:t>Send or print the completed expense report.</a:t>
            </a:r>
          </a:p>
        </p:txBody>
      </p:sp>
      <p:sp>
        <p:nvSpPr>
          <p:cNvPr id="29" name="Rectangle 28">
            <a:extLst xmlns:a="http://schemas.openxmlformats.org/drawingml/2006/main">
              <a:ext uri="{FF2B5EF4-FFF2-40B4-BE49-F238E27FC236}">
                <a16:creationId xmlns:a16="http://schemas.microsoft.com/office/drawing/2014/main" id="{67C37974-8D06-488D-8D05-63EA3DB49ADF}"/>
              </a:ext>
            </a:extLst>
          </p:cNvPr>
          <p:cNvSpPr>
            <a:spLocks xmlns:a="http://schemas.openxmlformats.org/drawingml/2006/main" noGrp="1"/>
          </p:cNvSpPr>
          <p:nvPr/>
        </p:nvSpPr>
        <p:spPr>
          <a:xfrm xmlns:a="http://schemas.openxmlformats.org/drawingml/2006/main">
            <a:off x="514350" y="561975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0">
                <a:solidFill>
                  <a:srgbClr val="092B52"/>
                </a:solidFill>
              </a:defRPr>
            </a:pPr>
            <a:r>
              <a:rPr sz="1725" b="0">
                <a:solidFill>
                  <a:srgbClr val="092B52"/>
                </a:solidFill>
              </a:rPr>
              <a:t>Employees prepare and file. Managers review and decide.</a:t>
            </a:r>
          </a:p>
        </p:txBody>
      </p:sp>
    </p:spTree>
    <p:extLst>
      <p:ext uri="{BB962C8B-B14F-4D97-AF65-F5344CB8AC3E}">
        <p14:creationId xmlns:p14="http://schemas.microsoft.com/office/powerpoint/2010/main" val="15144710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84B385BA-9B38-495B-A162-10F2E00D2C68}"/>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8F96F273-5E05-4AB9-A6D9-BF4A4F5C9D03}"/>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Start by signing in to the ERF System</a:t>
            </a:r>
          </a:p>
        </p:txBody>
      </p:sp>
      <p:sp>
        <p:nvSpPr>
          <p:cNvPr id="3" name="Straight Connector 2">
            <a:extLst xmlns:a="http://schemas.openxmlformats.org/drawingml/2006/main">
              <a:ext uri="{FF2B5EF4-FFF2-40B4-BE49-F238E27FC236}">
                <a16:creationId xmlns:a16="http://schemas.microsoft.com/office/drawing/2014/main" id="{A8F6A452-79C4-46EB-811E-DE7F5E66B482}"/>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C069BB08-8E83-4510-A455-10A17834358C}"/>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3</a:t>
            </a:r>
          </a:p>
        </p:txBody>
      </p:sp>
      <p:sp>
        <p:nvSpPr>
          <p:cNvPr id="5" name="Rectangle: Rounded Corners 4">
            <a:extLst xmlns:a="http://schemas.openxmlformats.org/drawingml/2006/main">
              <a:ext uri="{FF2B5EF4-FFF2-40B4-BE49-F238E27FC236}">
                <a16:creationId xmlns:a16="http://schemas.microsoft.com/office/drawing/2014/main" id="{E88F0240-5274-4880-A7D7-9492D45D37F9}"/>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76d54bb9645f4478"/>
          <a:stretch xmlns:a="http://schemas.openxmlformats.org/drawingml/2006/main"/>
        </p:blipFill>
        <p:spPr>
          <a:xfrm xmlns:a="http://schemas.openxmlformats.org/drawingml/2006/main">
            <a:off x="4021727" y="1657350"/>
            <a:ext cx="6986996"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824FB8F2-9470-419A-B60A-5EFDEEB15AA6}"/>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2843D676-8505-4292-ACC2-846F7B0FED68}"/>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223E016D-44D8-48BA-AAFC-A5CC9993BD27}"/>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724D0C01-45DB-4454-829E-6850B7BAAA4F}"/>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Enter your assigned username.</a:t>
            </a:r>
          </a:p>
        </p:txBody>
      </p:sp>
      <p:sp>
        <p:nvSpPr>
          <p:cNvPr id="11" name="Oval 10">
            <a:extLst xmlns:a="http://schemas.openxmlformats.org/drawingml/2006/main">
              <a:ext uri="{FF2B5EF4-FFF2-40B4-BE49-F238E27FC236}">
                <a16:creationId xmlns:a16="http://schemas.microsoft.com/office/drawing/2014/main" id="{D6569A57-CB6C-4028-A7F2-127C1DCC30A8}"/>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745A5598-2457-4664-BE95-C34E347152C7}"/>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0B88A878-1E62-4B93-BB94-697A9063AE85}"/>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Enter your password.</a:t>
            </a:r>
          </a:p>
        </p:txBody>
      </p:sp>
      <p:sp>
        <p:nvSpPr>
          <p:cNvPr id="14" name="Oval 13">
            <a:extLst xmlns:a="http://schemas.openxmlformats.org/drawingml/2006/main">
              <a:ext uri="{FF2B5EF4-FFF2-40B4-BE49-F238E27FC236}">
                <a16:creationId xmlns:a16="http://schemas.microsoft.com/office/drawing/2014/main" id="{B3D48502-3810-40D7-BDA6-9D90CA460730}"/>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B5529DA7-9D8D-4971-9F2A-72EF4AF28B09}"/>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D8F41703-4CD2-4E57-9DCB-6DF31225C4EE}"/>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Select Login to continue.</a:t>
            </a:r>
          </a:p>
        </p:txBody>
      </p:sp>
    </p:spTree>
    <p:extLst>
      <p:ext uri="{BB962C8B-B14F-4D97-AF65-F5344CB8AC3E}">
        <p14:creationId xmlns:p14="http://schemas.microsoft.com/office/powerpoint/2010/main" val="16670848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643A0C85-B592-4ACD-9DA1-98D0545DB833}"/>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CD4158B5-8912-40B3-9955-E4F9B52847BA}"/>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The main page is the starting point for ERF tasks</a:t>
            </a:r>
          </a:p>
        </p:txBody>
      </p:sp>
      <p:sp>
        <p:nvSpPr>
          <p:cNvPr id="3" name="Straight Connector 2">
            <a:extLst xmlns:a="http://schemas.openxmlformats.org/drawingml/2006/main">
              <a:ext uri="{FF2B5EF4-FFF2-40B4-BE49-F238E27FC236}">
                <a16:creationId xmlns:a16="http://schemas.microsoft.com/office/drawing/2014/main" id="{A1491AED-2768-4329-BF2C-5D9760503304}"/>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0930CEB4-58F8-4CFD-A16B-54CFF94572F6}"/>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4</a:t>
            </a:r>
          </a:p>
        </p:txBody>
      </p:sp>
      <p:sp>
        <p:nvSpPr>
          <p:cNvPr id="5" name="Rectangle: Rounded Corners 4">
            <a:extLst xmlns:a="http://schemas.openxmlformats.org/drawingml/2006/main">
              <a:ext uri="{FF2B5EF4-FFF2-40B4-BE49-F238E27FC236}">
                <a16:creationId xmlns:a16="http://schemas.microsoft.com/office/drawing/2014/main" id="{03FD232D-D253-47FB-AE52-9E7EF33166DA}"/>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334015db3ca1458f"/>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F0FB7D4F-44A2-4BCE-B18D-0D4BD79629F8}"/>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8F1C9521-29AB-477F-8C61-69B0E12B002D}"/>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ABB78B4D-ECBC-4887-AC90-D1EFA39635BE}"/>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F7B6C532-4936-405C-985C-228D81A88C0D}"/>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Confirm the signed-in user.</a:t>
            </a:r>
          </a:p>
        </p:txBody>
      </p:sp>
      <p:sp>
        <p:nvSpPr>
          <p:cNvPr id="11" name="Oval 10">
            <a:extLst xmlns:a="http://schemas.openxmlformats.org/drawingml/2006/main">
              <a:ext uri="{FF2B5EF4-FFF2-40B4-BE49-F238E27FC236}">
                <a16:creationId xmlns:a16="http://schemas.microsoft.com/office/drawing/2014/main" id="{2DA19C80-8A02-4EC3-BB7B-DCB3E730F036}"/>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96BBF338-EB29-4357-B6CC-21DD6C0D4CB9}"/>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0519B61D-63B4-4495-B9F8-519AFBEF597A}"/>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Use the top menu to open a task.</a:t>
            </a:r>
          </a:p>
        </p:txBody>
      </p:sp>
      <p:sp>
        <p:nvSpPr>
          <p:cNvPr id="14" name="Oval 13">
            <a:extLst xmlns:a="http://schemas.openxmlformats.org/drawingml/2006/main">
              <a:ext uri="{FF2B5EF4-FFF2-40B4-BE49-F238E27FC236}">
                <a16:creationId xmlns:a16="http://schemas.microsoft.com/office/drawing/2014/main" id="{A7D7C208-AA5C-4C2B-BCCB-BCE969BDB20E}"/>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99CBBA29-719F-48B8-8982-BCEADB91A697}"/>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7EDC1A06-23E2-4D46-B059-4B87EE88F58A}"/>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Check the status bar for context.</a:t>
            </a:r>
          </a:p>
        </p:txBody>
      </p:sp>
    </p:spTree>
    <p:extLst>
      <p:ext uri="{BB962C8B-B14F-4D97-AF65-F5344CB8AC3E}">
        <p14:creationId xmlns:p14="http://schemas.microsoft.com/office/powerpoint/2010/main" val="16645062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3873DDD7-82DC-4582-B72D-A2CE01B71323}"/>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F7A8D66B-91F4-464A-97D7-5BA93B4E9CFE}"/>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Review account information before filing expenses</a:t>
            </a:r>
          </a:p>
        </p:txBody>
      </p:sp>
      <p:sp>
        <p:nvSpPr>
          <p:cNvPr id="3" name="Straight Connector 2">
            <a:extLst xmlns:a="http://schemas.openxmlformats.org/drawingml/2006/main">
              <a:ext uri="{FF2B5EF4-FFF2-40B4-BE49-F238E27FC236}">
                <a16:creationId xmlns:a16="http://schemas.microsoft.com/office/drawing/2014/main" id="{FBE6BD17-E903-4F48-A614-2B916610429D}"/>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B14C4E1E-D014-4892-8C19-979C529CFD1B}"/>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5</a:t>
            </a:r>
          </a:p>
        </p:txBody>
      </p:sp>
      <p:sp>
        <p:nvSpPr>
          <p:cNvPr id="5" name="Rectangle: Rounded Corners 4">
            <a:extLst xmlns:a="http://schemas.openxmlformats.org/drawingml/2006/main">
              <a:ext uri="{FF2B5EF4-FFF2-40B4-BE49-F238E27FC236}">
                <a16:creationId xmlns:a16="http://schemas.microsoft.com/office/drawing/2014/main" id="{5A3101DF-8D7B-49C4-8ADD-0B5CD75E3517}"/>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ef34b9dfc7a74b3d"/>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2196A3B7-E81C-4F89-853F-684FE6EA9E92}"/>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B7909DCF-92EF-41D9-807E-0580BBFB6E0C}"/>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BF45B8C4-D8EE-45A9-A869-B3425481C280}"/>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2D4F8D6E-C0FE-4586-988D-515DE9358EC5}"/>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Open Account Settings.</a:t>
            </a:r>
          </a:p>
        </p:txBody>
      </p:sp>
      <p:sp>
        <p:nvSpPr>
          <p:cNvPr id="11" name="Oval 10">
            <a:extLst xmlns:a="http://schemas.openxmlformats.org/drawingml/2006/main">
              <a:ext uri="{FF2B5EF4-FFF2-40B4-BE49-F238E27FC236}">
                <a16:creationId xmlns:a16="http://schemas.microsoft.com/office/drawing/2014/main" id="{43A48AAE-2798-453C-A812-8EAB306943EB}"/>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D784EFC4-759A-476B-BC7C-A1C306AF00DC}"/>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83B2FCD1-578C-4B82-BABE-2155EDB2AA87}"/>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Review your user and employee information.</a:t>
            </a:r>
          </a:p>
        </p:txBody>
      </p:sp>
      <p:sp>
        <p:nvSpPr>
          <p:cNvPr id="14" name="Oval 13">
            <a:extLst xmlns:a="http://schemas.openxmlformats.org/drawingml/2006/main">
              <a:ext uri="{FF2B5EF4-FFF2-40B4-BE49-F238E27FC236}">
                <a16:creationId xmlns:a16="http://schemas.microsoft.com/office/drawing/2014/main" id="{BE8E1F19-8AAB-4426-A87E-EC6D9BDB37CF}"/>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1BA32962-1C24-4E32-86ED-3AA3DC8265CB}"/>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E026991F-E700-49AA-8A3B-F00C44DC305F}"/>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Save only verified changes.</a:t>
            </a:r>
          </a:p>
        </p:txBody>
      </p:sp>
    </p:spTree>
    <p:extLst>
      <p:ext uri="{BB962C8B-B14F-4D97-AF65-F5344CB8AC3E}">
        <p14:creationId xmlns:p14="http://schemas.microsoft.com/office/powerpoint/2010/main" val="6209746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7BDEDE1B-C40D-4F86-9E11-B1BF6D231D59}"/>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F3DB81D7-7C51-44BC-959B-DD2EC7A0C2F1}"/>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Maintain your password and email configuration</a:t>
            </a:r>
          </a:p>
        </p:txBody>
      </p:sp>
      <p:sp>
        <p:nvSpPr>
          <p:cNvPr id="3" name="Straight Connector 2">
            <a:extLst xmlns:a="http://schemas.openxmlformats.org/drawingml/2006/main">
              <a:ext uri="{FF2B5EF4-FFF2-40B4-BE49-F238E27FC236}">
                <a16:creationId xmlns:a16="http://schemas.microsoft.com/office/drawing/2014/main" id="{1BC1C926-3087-4257-99FC-F4AE2EB54335}"/>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326C964A-F245-4955-A913-F9CF6F0197B9}"/>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6</a:t>
            </a:r>
          </a:p>
        </p:txBody>
      </p:sp>
      <p:sp>
        <p:nvSpPr>
          <p:cNvPr id="5" name="Rectangle: Rounded Corners 4">
            <a:extLst xmlns:a="http://schemas.openxmlformats.org/drawingml/2006/main">
              <a:ext uri="{FF2B5EF4-FFF2-40B4-BE49-F238E27FC236}">
                <a16:creationId xmlns:a16="http://schemas.microsoft.com/office/drawing/2014/main" id="{AC93F08D-EB76-4475-9531-098D13D702E6}"/>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2e19b78e372e4de7"/>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ED2F5C28-E715-4012-B969-779BECCD3626}"/>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CF3BA901-AF81-4C90-B4ED-33099870C120}"/>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47D533D4-7554-4E9E-9766-B4A30D3AF8DE}"/>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2C938BEC-D9E5-4CC1-B2CC-26C3D301D0B4}"/>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Use Change Password when credentials must be updated.</a:t>
            </a:r>
          </a:p>
        </p:txBody>
      </p:sp>
      <p:sp>
        <p:nvSpPr>
          <p:cNvPr id="11" name="Oval 10">
            <a:extLst xmlns:a="http://schemas.openxmlformats.org/drawingml/2006/main">
              <a:ext uri="{FF2B5EF4-FFF2-40B4-BE49-F238E27FC236}">
                <a16:creationId xmlns:a16="http://schemas.microsoft.com/office/drawing/2014/main" id="{B887DC40-86F9-424D-B332-1A8660C55B17}"/>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3FBA061E-E822-40CD-A05D-E0F27F976897}"/>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A5D438A9-A72A-4BA8-98E3-98AEAFD20F65}"/>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Open Email Setup for notification settings.</a:t>
            </a:r>
          </a:p>
        </p:txBody>
      </p:sp>
      <p:sp>
        <p:nvSpPr>
          <p:cNvPr id="14" name="Oval 13">
            <a:extLst xmlns:a="http://schemas.openxmlformats.org/drawingml/2006/main">
              <a:ext uri="{FF2B5EF4-FFF2-40B4-BE49-F238E27FC236}">
                <a16:creationId xmlns:a16="http://schemas.microsoft.com/office/drawing/2014/main" id="{31995C21-BBE5-4FEF-B74B-129ECF1D3EE9}"/>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B02B740D-4A50-4FC9-8174-E8E56F242FC2}"/>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F4BF83A8-646E-4261-90F8-3B45FAF16EB8}"/>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Confirm entries before saving.</a:t>
            </a:r>
          </a:p>
        </p:txBody>
      </p:sp>
    </p:spTree>
    <p:extLst>
      <p:ext uri="{BB962C8B-B14F-4D97-AF65-F5344CB8AC3E}">
        <p14:creationId xmlns:p14="http://schemas.microsoft.com/office/powerpoint/2010/main" val="19399417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293FC3F7-0CEA-42FE-B47E-C019CF9BF5E6}"/>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EC7EE8CC-E1E6-471A-A998-33C3123F58F5}"/>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Set the signatory used in the approval route</a:t>
            </a:r>
          </a:p>
        </p:txBody>
      </p:sp>
      <p:sp>
        <p:nvSpPr>
          <p:cNvPr id="3" name="Straight Connector 2">
            <a:extLst xmlns:a="http://schemas.openxmlformats.org/drawingml/2006/main">
              <a:ext uri="{FF2B5EF4-FFF2-40B4-BE49-F238E27FC236}">
                <a16:creationId xmlns:a16="http://schemas.microsoft.com/office/drawing/2014/main" id="{AF0B0B5F-ACC0-45AB-9F88-41C9100A8B3A}"/>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54ACF048-E1FF-4FCB-9459-6E849384F652}"/>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7</a:t>
            </a:r>
          </a:p>
        </p:txBody>
      </p:sp>
      <p:sp>
        <p:nvSpPr>
          <p:cNvPr id="5" name="Rectangle: Rounded Corners 4">
            <a:extLst xmlns:a="http://schemas.openxmlformats.org/drawingml/2006/main">
              <a:ext uri="{FF2B5EF4-FFF2-40B4-BE49-F238E27FC236}">
                <a16:creationId xmlns:a16="http://schemas.microsoft.com/office/drawing/2014/main" id="{E6C31FA7-7110-4615-881F-A1AE205022DB}"/>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378dbc57cc1549a5"/>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3B4D5EC-3C06-49AF-A5EB-3C8FEFA74B6F}"/>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E0D17287-2719-4821-8716-27BAEE231211}"/>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798186DB-DB50-467B-B5EB-1B857CC8B23C}"/>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67B50D62-55E6-451C-979D-6F8AAF031F9B}"/>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Open the Signatory setup.</a:t>
            </a:r>
          </a:p>
        </p:txBody>
      </p:sp>
      <p:sp>
        <p:nvSpPr>
          <p:cNvPr id="11" name="Oval 10">
            <a:extLst xmlns:a="http://schemas.openxmlformats.org/drawingml/2006/main">
              <a:ext uri="{FF2B5EF4-FFF2-40B4-BE49-F238E27FC236}">
                <a16:creationId xmlns:a16="http://schemas.microsoft.com/office/drawing/2014/main" id="{4258B4EE-581D-41CA-B18F-D739D2C2E80E}"/>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8637B762-724A-4466-B323-75B21092554A}"/>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AF1839D7-AC8A-45A4-8835-25431A062563}"/>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Select the appropriate approving person.</a:t>
            </a:r>
          </a:p>
        </p:txBody>
      </p:sp>
      <p:sp>
        <p:nvSpPr>
          <p:cNvPr id="14" name="Oval 13">
            <a:extLst xmlns:a="http://schemas.openxmlformats.org/drawingml/2006/main">
              <a:ext uri="{FF2B5EF4-FFF2-40B4-BE49-F238E27FC236}">
                <a16:creationId xmlns:a16="http://schemas.microsoft.com/office/drawing/2014/main" id="{5982655B-E94E-4983-9911-9733CD564551}"/>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159647B5-3C5F-4430-9826-79A896CB7B85}"/>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46E47AB9-064E-463B-B411-5F3C9127EF34}"/>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Save the confirmed routing choice.</a:t>
            </a:r>
          </a:p>
        </p:txBody>
      </p:sp>
    </p:spTree>
    <p:extLst>
      <p:ext uri="{BB962C8B-B14F-4D97-AF65-F5344CB8AC3E}">
        <p14:creationId xmlns:p14="http://schemas.microsoft.com/office/powerpoint/2010/main" val="15347604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7F82F26-0892-4C3F-A4DD-C136C8A5F9AB}"/>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6768804C-500B-4160-BA73-3F0557D7A03D}"/>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Create a new expense from the main workspace</a:t>
            </a:r>
          </a:p>
        </p:txBody>
      </p:sp>
      <p:sp>
        <p:nvSpPr>
          <p:cNvPr id="3" name="Straight Connector 2">
            <a:extLst xmlns:a="http://schemas.openxmlformats.org/drawingml/2006/main">
              <a:ext uri="{FF2B5EF4-FFF2-40B4-BE49-F238E27FC236}">
                <a16:creationId xmlns:a16="http://schemas.microsoft.com/office/drawing/2014/main" id="{D7ED5925-9CA1-4F6F-8B06-C45AD326EFA3}"/>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DFC4C668-EDD4-4F09-A2B5-316FBDF191E0}"/>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8</a:t>
            </a:r>
          </a:p>
        </p:txBody>
      </p:sp>
      <p:sp>
        <p:nvSpPr>
          <p:cNvPr id="5" name="Rectangle: Rounded Corners 4">
            <a:extLst xmlns:a="http://schemas.openxmlformats.org/drawingml/2006/main">
              <a:ext uri="{FF2B5EF4-FFF2-40B4-BE49-F238E27FC236}">
                <a16:creationId xmlns:a16="http://schemas.microsoft.com/office/drawing/2014/main" id="{EF2559AF-D0B6-4C07-9236-40BE4D432092}"/>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c3f9bd5de4ab4d28"/>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02C68B70-7D51-4526-A8D9-027960872385}"/>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72D64FBE-73BD-4E66-8CB6-2617C4D06AA5}"/>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7D44EE1E-076B-4547-8D07-C2509B8B5F56}"/>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E9EE9C03-ED1B-4BC9-B498-EB5840F1B9B2}"/>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Open the expense entry command.</a:t>
            </a:r>
          </a:p>
        </p:txBody>
      </p:sp>
      <p:sp>
        <p:nvSpPr>
          <p:cNvPr id="11" name="Oval 10">
            <a:extLst xmlns:a="http://schemas.openxmlformats.org/drawingml/2006/main">
              <a:ext uri="{FF2B5EF4-FFF2-40B4-BE49-F238E27FC236}">
                <a16:creationId xmlns:a16="http://schemas.microsoft.com/office/drawing/2014/main" id="{99078F46-DEC2-4F1C-A3BA-5AE9D610A8F2}"/>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393A846E-ACD5-4346-9246-A1FC7E87E749}"/>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95414E5F-9E16-47B0-A1B1-9A4CD5503412}"/>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Complete the report header details.</a:t>
            </a:r>
          </a:p>
        </p:txBody>
      </p:sp>
      <p:sp>
        <p:nvSpPr>
          <p:cNvPr id="14" name="Oval 13">
            <a:extLst xmlns:a="http://schemas.openxmlformats.org/drawingml/2006/main">
              <a:ext uri="{FF2B5EF4-FFF2-40B4-BE49-F238E27FC236}">
                <a16:creationId xmlns:a16="http://schemas.microsoft.com/office/drawing/2014/main" id="{9AC969E2-517A-4625-BB13-BBD47BBB15F9}"/>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BA4AA190-57C6-42EA-AFF7-35BBECCD3E52}"/>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3EF9B837-0B4E-47B1-8A5E-079315616CC6}"/>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Continue to the expense items.</a:t>
            </a:r>
          </a:p>
        </p:txBody>
      </p:sp>
    </p:spTree>
    <p:extLst>
      <p:ext uri="{BB962C8B-B14F-4D97-AF65-F5344CB8AC3E}">
        <p14:creationId xmlns:p14="http://schemas.microsoft.com/office/powerpoint/2010/main" val="11745190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F7107A0-ECE1-4103-B61F-20E965EA5A85}"/>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68949522-7ED2-4690-8F96-637F9A402F0B}"/>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Enter each expense item completely and accurately</a:t>
            </a:r>
          </a:p>
        </p:txBody>
      </p:sp>
      <p:sp>
        <p:nvSpPr>
          <p:cNvPr id="3" name="Straight Connector 2">
            <a:extLst xmlns:a="http://schemas.openxmlformats.org/drawingml/2006/main">
              <a:ext uri="{FF2B5EF4-FFF2-40B4-BE49-F238E27FC236}">
                <a16:creationId xmlns:a16="http://schemas.microsoft.com/office/drawing/2014/main" id="{46549F44-FEE2-4D4B-8FC7-D32875E2D6A4}"/>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0CA9F2E2-3FC6-4B5E-83F5-AA91E9946087}"/>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9</a:t>
            </a:r>
          </a:p>
        </p:txBody>
      </p:sp>
      <p:sp>
        <p:nvSpPr>
          <p:cNvPr id="5" name="Rectangle: Rounded Corners 4">
            <a:extLst xmlns:a="http://schemas.openxmlformats.org/drawingml/2006/main">
              <a:ext uri="{FF2B5EF4-FFF2-40B4-BE49-F238E27FC236}">
                <a16:creationId xmlns:a16="http://schemas.microsoft.com/office/drawing/2014/main" id="{B0372BBF-85FA-4EBD-A454-8191E4FA22E9}"/>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11999a1a7f384218"/>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64D61ED1-3D64-4F5D-9352-D5D58555B498}"/>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2E0A23A8-856A-4E4B-917C-7C03F89E9DF6}"/>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24740ACC-7C79-480C-B01F-D6685EE55433}"/>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52DBDBE2-709E-4B35-86DF-D4799BA823C6}"/>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Add an expense item.</a:t>
            </a:r>
          </a:p>
        </p:txBody>
      </p:sp>
      <p:sp>
        <p:nvSpPr>
          <p:cNvPr id="11" name="Oval 10">
            <a:extLst xmlns:a="http://schemas.openxmlformats.org/drawingml/2006/main">
              <a:ext uri="{FF2B5EF4-FFF2-40B4-BE49-F238E27FC236}">
                <a16:creationId xmlns:a16="http://schemas.microsoft.com/office/drawing/2014/main" id="{98E81702-F0C5-4204-A214-DD72C440BC12}"/>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F52D10F0-79F5-49F3-87BA-CE108BC53B13}"/>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0ACE46B8-3669-42EB-9C7F-43EB809FFFDA}"/>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Complete the available item fields.</a:t>
            </a:r>
          </a:p>
        </p:txBody>
      </p:sp>
      <p:sp>
        <p:nvSpPr>
          <p:cNvPr id="14" name="Oval 13">
            <a:extLst xmlns:a="http://schemas.openxmlformats.org/drawingml/2006/main">
              <a:ext uri="{FF2B5EF4-FFF2-40B4-BE49-F238E27FC236}">
                <a16:creationId xmlns:a16="http://schemas.microsoft.com/office/drawing/2014/main" id="{02146517-337F-40DF-AA40-6E916E1F51C5}"/>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BCFFACAB-91AE-4A89-829D-56E970F7F939}"/>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3DE37C66-FF2D-4B03-80D8-0BC7A614917E}"/>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Save and review the new line.</a:t>
            </a:r>
          </a:p>
        </p:txBody>
      </p:sp>
    </p:spTree>
    <p:extLst>
      <p:ext uri="{BB962C8B-B14F-4D97-AF65-F5344CB8AC3E}">
        <p14:creationId xmlns:p14="http://schemas.microsoft.com/office/powerpoint/2010/main" val="20051212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107BB6AD-0EF6-4468-A55B-CFA83FFBA8CF}"/>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MANAGER</a:t>
            </a:r>
          </a:p>
        </p:txBody>
      </p:sp>
      <p:sp>
        <p:nvSpPr>
          <p:cNvPr id="2" name="Rectangle 1">
            <a:extLst xmlns:a="http://schemas.openxmlformats.org/drawingml/2006/main">
              <a:ext uri="{FF2B5EF4-FFF2-40B4-BE49-F238E27FC236}">
                <a16:creationId xmlns:a16="http://schemas.microsoft.com/office/drawing/2014/main" id="{E3EEBA56-ABF2-488E-8627-561BC6AE2011}"/>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Managers open the approval review queue</a:t>
            </a:r>
          </a:p>
        </p:txBody>
      </p:sp>
      <p:sp>
        <p:nvSpPr>
          <p:cNvPr id="3" name="Straight Connector 2">
            <a:extLst xmlns:a="http://schemas.openxmlformats.org/drawingml/2006/main">
              <a:ext uri="{FF2B5EF4-FFF2-40B4-BE49-F238E27FC236}">
                <a16:creationId xmlns:a16="http://schemas.microsoft.com/office/drawing/2014/main" id="{AC92212D-F745-4EFE-9626-79DDC3D6A3AF}"/>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B108DAD7-2008-4ABA-8EC8-5970BA2F6E6E}"/>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10</a:t>
            </a:r>
          </a:p>
        </p:txBody>
      </p:sp>
      <p:sp>
        <p:nvSpPr>
          <p:cNvPr id="5" name="Rectangle: Rounded Corners 4">
            <a:extLst xmlns:a="http://schemas.openxmlformats.org/drawingml/2006/main">
              <a:ext uri="{FF2B5EF4-FFF2-40B4-BE49-F238E27FC236}">
                <a16:creationId xmlns:a16="http://schemas.microsoft.com/office/drawing/2014/main" id="{B5244A5A-F3E2-4A0D-B2A6-D9C473BCDBEC}"/>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cfd8a74608f14802"/>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1C4819A3-08BE-4727-9E3A-A122031E0ADA}"/>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B7073CB0-2896-43A5-9999-96769B238845}"/>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7DB031D6-9955-4FCB-9E51-4AF4054C0611}"/>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2944BDA5-4EF4-4F1F-976B-9BED2671D214}"/>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Open Approval Review.</a:t>
            </a:r>
          </a:p>
        </p:txBody>
      </p:sp>
      <p:sp>
        <p:nvSpPr>
          <p:cNvPr id="11" name="Oval 10">
            <a:extLst xmlns:a="http://schemas.openxmlformats.org/drawingml/2006/main">
              <a:ext uri="{FF2B5EF4-FFF2-40B4-BE49-F238E27FC236}">
                <a16:creationId xmlns:a16="http://schemas.microsoft.com/office/drawing/2014/main" id="{4435DEB0-273B-48C9-99C0-7318682FDFA8}"/>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FCB4F9C0-5A3C-43A6-A524-DA336D020B64}"/>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13311D50-A4B4-4E36-80A0-3697A41CBF07}"/>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Select a report from the queue.</a:t>
            </a:r>
          </a:p>
        </p:txBody>
      </p:sp>
      <p:sp>
        <p:nvSpPr>
          <p:cNvPr id="14" name="Oval 13">
            <a:extLst xmlns:a="http://schemas.openxmlformats.org/drawingml/2006/main">
              <a:ext uri="{FF2B5EF4-FFF2-40B4-BE49-F238E27FC236}">
                <a16:creationId xmlns:a16="http://schemas.microsoft.com/office/drawing/2014/main" id="{70FB6FFD-9E73-4AE5-BE96-090DF577E917}"/>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6B7ADE50-27AC-4550-9402-15E32B18CAC1}"/>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814028D4-1773-4BA5-AEC4-B305911B5B27}"/>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Review the submitted expense details.</a:t>
            </a:r>
          </a:p>
        </p:txBody>
      </p:sp>
    </p:spTree>
    <p:extLst>
      <p:ext uri="{BB962C8B-B14F-4D97-AF65-F5344CB8AC3E}">
        <p14:creationId xmlns:p14="http://schemas.microsoft.com/office/powerpoint/2010/main" val="33268171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219078DC-FCF8-44AF-8E4F-8D183FA952DA}"/>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MANAGER</a:t>
            </a:r>
          </a:p>
        </p:txBody>
      </p:sp>
      <p:sp>
        <p:nvSpPr>
          <p:cNvPr id="2" name="Rectangle 1">
            <a:extLst xmlns:a="http://schemas.openxmlformats.org/drawingml/2006/main">
              <a:ext uri="{FF2B5EF4-FFF2-40B4-BE49-F238E27FC236}">
                <a16:creationId xmlns:a16="http://schemas.microsoft.com/office/drawing/2014/main" id="{B9508FE3-FE62-466C-8B60-EC553BDE4442}"/>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Record the approval decision after completing the review</a:t>
            </a:r>
          </a:p>
        </p:txBody>
      </p:sp>
      <p:sp>
        <p:nvSpPr>
          <p:cNvPr id="3" name="Straight Connector 2">
            <a:extLst xmlns:a="http://schemas.openxmlformats.org/drawingml/2006/main">
              <a:ext uri="{FF2B5EF4-FFF2-40B4-BE49-F238E27FC236}">
                <a16:creationId xmlns:a16="http://schemas.microsoft.com/office/drawing/2014/main" id="{2D80A1D1-38F6-4443-85A6-8E6CB78C0255}"/>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8B932FE8-5C91-4708-8EEF-53D1198EE39B}"/>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11</a:t>
            </a:r>
          </a:p>
        </p:txBody>
      </p:sp>
      <p:sp>
        <p:nvSpPr>
          <p:cNvPr id="5" name="Rectangle: Rounded Corners 4">
            <a:extLst xmlns:a="http://schemas.openxmlformats.org/drawingml/2006/main">
              <a:ext uri="{FF2B5EF4-FFF2-40B4-BE49-F238E27FC236}">
                <a16:creationId xmlns:a16="http://schemas.microsoft.com/office/drawing/2014/main" id="{AADB3E2D-6642-4AEA-84FA-CDB6875D2FCD}"/>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4ca40066178b4234"/>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50F8EF01-DDC4-4DD3-9375-FC63DF31D6E9}"/>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FF982C1A-B83C-41D1-BEF7-CE95F0FBB825}"/>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34EF2BCE-84B4-4159-8A94-F32F69C515F8}"/>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885ABB84-566F-48D7-A92F-D03012A996A5}"/>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Confirm the selected report.</a:t>
            </a:r>
          </a:p>
        </p:txBody>
      </p:sp>
      <p:sp>
        <p:nvSpPr>
          <p:cNvPr id="11" name="Oval 10">
            <a:extLst xmlns:a="http://schemas.openxmlformats.org/drawingml/2006/main">
              <a:ext uri="{FF2B5EF4-FFF2-40B4-BE49-F238E27FC236}">
                <a16:creationId xmlns:a16="http://schemas.microsoft.com/office/drawing/2014/main" id="{8A757A70-7842-4772-BF0C-7BC5F8007B4D}"/>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E4068045-443B-4F18-8710-249D59FB6AB6}"/>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6C139393-76F7-4B9C-A11E-128D513C8CDA}"/>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Choose the appropriate review action.</a:t>
            </a:r>
          </a:p>
        </p:txBody>
      </p:sp>
      <p:sp>
        <p:nvSpPr>
          <p:cNvPr id="14" name="Oval 13">
            <a:extLst xmlns:a="http://schemas.openxmlformats.org/drawingml/2006/main">
              <a:ext uri="{FF2B5EF4-FFF2-40B4-BE49-F238E27FC236}">
                <a16:creationId xmlns:a16="http://schemas.microsoft.com/office/drawing/2014/main" id="{928986A8-07F9-4DDA-8408-A3CC6104040A}"/>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8F015BCE-6679-49A8-AEFF-98FB6ABDB5A3}"/>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DDCA7BFB-705A-466F-9D2B-9E8CE0E87A34}"/>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Verify the report output and recorded status.</a:t>
            </a:r>
          </a:p>
        </p:txBody>
      </p:sp>
    </p:spTree>
    <p:extLst>
      <p:ext uri="{BB962C8B-B14F-4D97-AF65-F5344CB8AC3E}">
        <p14:creationId xmlns:p14="http://schemas.microsoft.com/office/powerpoint/2010/main" val="19572538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7B6AF65E-1A58-4C10-9184-5A9E69D02AFF}"/>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 OR MANAGER</a:t>
            </a:r>
          </a:p>
        </p:txBody>
      </p:sp>
      <p:sp>
        <p:nvSpPr>
          <p:cNvPr id="2" name="Rectangle 1">
            <a:extLst xmlns:a="http://schemas.openxmlformats.org/drawingml/2006/main">
              <a:ext uri="{FF2B5EF4-FFF2-40B4-BE49-F238E27FC236}">
                <a16:creationId xmlns:a16="http://schemas.microsoft.com/office/drawing/2014/main" id="{9CEB6BBA-03CA-4A8A-8C87-1EB39D2C4525}"/>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Send or print the completed expense report</a:t>
            </a:r>
          </a:p>
        </p:txBody>
      </p:sp>
      <p:sp>
        <p:nvSpPr>
          <p:cNvPr id="3" name="Straight Connector 2">
            <a:extLst xmlns:a="http://schemas.openxmlformats.org/drawingml/2006/main">
              <a:ext uri="{FF2B5EF4-FFF2-40B4-BE49-F238E27FC236}">
                <a16:creationId xmlns:a16="http://schemas.microsoft.com/office/drawing/2014/main" id="{CB075D16-8D7C-4DFB-ACD0-3E40E0EF1575}"/>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CE4476BC-3938-4D59-84B4-595589B58AA7}"/>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12</a:t>
            </a:r>
          </a:p>
        </p:txBody>
      </p:sp>
      <p:sp>
        <p:nvSpPr>
          <p:cNvPr id="5" name="Rectangle: Rounded Corners 4">
            <a:extLst xmlns:a="http://schemas.openxmlformats.org/drawingml/2006/main">
              <a:ext uri="{FF2B5EF4-FFF2-40B4-BE49-F238E27FC236}">
                <a16:creationId xmlns:a16="http://schemas.microsoft.com/office/drawing/2014/main" id="{61473E9D-70D2-4108-BC82-1E3300FBB4B7}"/>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52c22efe76bf4f1b"/>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32D63211-D2CC-4A3F-A950-1CFAE02AF90D}"/>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EA53D4B8-CBB7-4A16-AE2B-E269CCC40CBA}"/>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73E16968-509B-45A3-8DFD-D3EADF0B0D30}"/>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08E8718C-689D-4A2E-8A81-B7C19EEA6C79}"/>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Preview the completed report.</a:t>
            </a:r>
          </a:p>
        </p:txBody>
      </p:sp>
      <p:sp>
        <p:nvSpPr>
          <p:cNvPr id="11" name="Oval 10">
            <a:extLst xmlns:a="http://schemas.openxmlformats.org/drawingml/2006/main">
              <a:ext uri="{FF2B5EF4-FFF2-40B4-BE49-F238E27FC236}">
                <a16:creationId xmlns:a16="http://schemas.microsoft.com/office/drawing/2014/main" id="{C8A0FFB7-1D7C-4CEA-B189-30CBCB4A4809}"/>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0D91EE57-040D-4FD4-8915-3B4DE58089B5}"/>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82B50957-D081-47AC-82A6-6F72983BA81D}"/>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Confirm the document and recipient context.</a:t>
            </a:r>
          </a:p>
        </p:txBody>
      </p:sp>
      <p:sp>
        <p:nvSpPr>
          <p:cNvPr id="14" name="Oval 13">
            <a:extLst xmlns:a="http://schemas.openxmlformats.org/drawingml/2006/main">
              <a:ext uri="{FF2B5EF4-FFF2-40B4-BE49-F238E27FC236}">
                <a16:creationId xmlns:a16="http://schemas.microsoft.com/office/drawing/2014/main" id="{4AA8C26B-AA82-40F4-9483-B52FEC3C7BD9}"/>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4E0E4CAC-56C6-429B-8DB7-62A5BCFF06FB}"/>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F11DDB84-70E9-4DAE-9B33-6F06BB595F74}"/>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Use Send or Print as required.</a:t>
            </a:r>
          </a:p>
        </p:txBody>
      </p:sp>
    </p:spTree>
    <p:extLst>
      <p:ext uri="{BB962C8B-B14F-4D97-AF65-F5344CB8AC3E}">
        <p14:creationId xmlns:p14="http://schemas.microsoft.com/office/powerpoint/2010/main" val="2156807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B95EF40-9864-4749-AC72-A021EC126D86}"/>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FINANCE</a:t>
            </a:r>
          </a:p>
        </p:txBody>
      </p:sp>
      <p:sp>
        <p:nvSpPr>
          <p:cNvPr id="2" name="">
            <a:extLst xmlns:a="http://schemas.openxmlformats.org/drawingml/2006/main">
              <a:ext uri="{FF2B5EF4-FFF2-40B4-BE49-F238E27FC236}">
                <a16:creationId xmlns:a16="http://schemas.microsoft.com/office/drawing/2014/main" id="{1B63CE12-762A-4FAC-B25E-284E2623FBDF}"/>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Finance verifies the submitted ERF and physical receipts</a:t>
            </a:r>
          </a:p>
        </p:txBody>
      </p:sp>
      <p:sp>
        <p:nvSpPr>
          <p:cNvPr id="3" name="">
            <a:extLst xmlns:a="http://schemas.openxmlformats.org/drawingml/2006/main">
              <a:ext uri="{FF2B5EF4-FFF2-40B4-BE49-F238E27FC236}">
                <a16:creationId xmlns:a16="http://schemas.microsoft.com/office/drawing/2014/main" id="{4473B04C-6331-4A46-97D5-0E9ECFE58276}"/>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sp>
      <p:sp>
        <p:nvSpPr>
          <p:cNvPr id="4" name="">
            <a:extLst xmlns:a="http://schemas.openxmlformats.org/drawingml/2006/main">
              <a:ext uri="{FF2B5EF4-FFF2-40B4-BE49-F238E27FC236}">
                <a16:creationId xmlns:a16="http://schemas.microsoft.com/office/drawing/2014/main" id="{08F02500-02B9-47E6-A08C-0B5DD9DC1943}"/>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13</a:t>
            </a:r>
          </a:p>
        </p:txBody>
      </p:sp>
      <p:sp>
        <p:nvSpPr>
          <p:cNvPr id="5" name="">
            <a:extLst xmlns:a="http://schemas.openxmlformats.org/drawingml/2006/main">
              <a:ext uri="{FF2B5EF4-FFF2-40B4-BE49-F238E27FC236}">
                <a16:creationId xmlns:a16="http://schemas.microsoft.com/office/drawing/2014/main" id="{790E60F4-1BD6-4864-8F6D-03C8592423AE}"/>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c170fca7ebd46e1"/>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2DD603A-6D7E-4DEF-8758-69F1F47DE9F9}"/>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
            <a:extLst xmlns:a="http://schemas.openxmlformats.org/drawingml/2006/main">
              <a:ext uri="{FF2B5EF4-FFF2-40B4-BE49-F238E27FC236}">
                <a16:creationId xmlns:a16="http://schemas.microsoft.com/office/drawing/2014/main" id="{42D63B56-609E-4A4C-A249-4A7848D8A9D0}"/>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9" name="">
            <a:extLst xmlns:a="http://schemas.openxmlformats.org/drawingml/2006/main">
              <a:ext uri="{FF2B5EF4-FFF2-40B4-BE49-F238E27FC236}">
                <a16:creationId xmlns:a16="http://schemas.microsoft.com/office/drawing/2014/main" id="{6FADB12B-65FA-4E75-A815-1079AD66C986}"/>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
            <a:extLst xmlns:a="http://schemas.openxmlformats.org/drawingml/2006/main">
              <a:ext uri="{FF2B5EF4-FFF2-40B4-BE49-F238E27FC236}">
                <a16:creationId xmlns:a16="http://schemas.microsoft.com/office/drawing/2014/main" id="{22475E45-0C27-46C8-AB56-1CD93A2A2766}"/>
              </a:ext>
            </a:extLst>
          </p:cNvPr>
          <p:cNvSpPr>
            <a:spLocks xmlns:a="http://schemas.openxmlformats.org/drawingml/2006/main" noGrp="1"/>
          </p:cNvSpPr>
          <p:nvPr/>
        </p:nvSpPr>
        <p:spPr>
          <a:xfrm xmlns:a="http://schemas.openxmlformats.org/drawingml/2006/main">
            <a:off x="1028700" y="20859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Find and select the submitted ERF.</a:t>
            </a:r>
          </a:p>
        </p:txBody>
      </p:sp>
      <p:sp>
        <p:nvSpPr>
          <p:cNvPr id="11" name="">
            <a:extLst xmlns:a="http://schemas.openxmlformats.org/drawingml/2006/main">
              <a:ext uri="{FF2B5EF4-FFF2-40B4-BE49-F238E27FC236}">
                <a16:creationId xmlns:a16="http://schemas.microsoft.com/office/drawing/2014/main" id="{3EF26A41-7707-4591-8098-73B66C844DA0}"/>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12" name="">
            <a:extLst xmlns:a="http://schemas.openxmlformats.org/drawingml/2006/main">
              <a:ext uri="{FF2B5EF4-FFF2-40B4-BE49-F238E27FC236}">
                <a16:creationId xmlns:a16="http://schemas.microsoft.com/office/drawing/2014/main" id="{7FD81B93-BDE7-4F8B-B7D2-8F125CB9721F}"/>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
            <a:extLst xmlns:a="http://schemas.openxmlformats.org/drawingml/2006/main">
              <a:ext uri="{FF2B5EF4-FFF2-40B4-BE49-F238E27FC236}">
                <a16:creationId xmlns:a16="http://schemas.microsoft.com/office/drawing/2014/main" id="{2727F7FB-8F12-48E3-9DF5-75DFC6347D8C}"/>
              </a:ext>
            </a:extLst>
          </p:cNvPr>
          <p:cNvSpPr>
            <a:spLocks xmlns:a="http://schemas.openxmlformats.org/drawingml/2006/main" noGrp="1"/>
          </p:cNvSpPr>
          <p:nvPr/>
        </p:nvSpPr>
        <p:spPr>
          <a:xfrm xmlns:a="http://schemas.openxmlformats.org/drawingml/2006/main">
            <a:off x="1028700" y="31527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Review the ERF details, status, and receipt indicator.</a:t>
            </a:r>
          </a:p>
        </p:txBody>
      </p:sp>
      <p:sp>
        <p:nvSpPr>
          <p:cNvPr id="14" name="">
            <a:extLst xmlns:a="http://schemas.openxmlformats.org/drawingml/2006/main">
              <a:ext uri="{FF2B5EF4-FFF2-40B4-BE49-F238E27FC236}">
                <a16:creationId xmlns:a16="http://schemas.microsoft.com/office/drawing/2014/main" id="{6024D2B9-AE2A-47C5-9ABE-2B17FD28ABE5}"/>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15" name="">
            <a:extLst xmlns:a="http://schemas.openxmlformats.org/drawingml/2006/main">
              <a:ext uri="{FF2B5EF4-FFF2-40B4-BE49-F238E27FC236}">
                <a16:creationId xmlns:a16="http://schemas.microsoft.com/office/drawing/2014/main" id="{1D293EC4-7E34-4554-A55B-44DDB11F7159}"/>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
            <a:extLst xmlns:a="http://schemas.openxmlformats.org/drawingml/2006/main">
              <a:ext uri="{FF2B5EF4-FFF2-40B4-BE49-F238E27FC236}">
                <a16:creationId xmlns:a16="http://schemas.microsoft.com/office/drawing/2014/main" id="{4213704C-8BAD-4777-A4C3-590F8B46AC80}"/>
              </a:ext>
            </a:extLst>
          </p:cNvPr>
          <p:cNvSpPr>
            <a:spLocks xmlns:a="http://schemas.openxmlformats.org/drawingml/2006/main" noGrp="1"/>
          </p:cNvSpPr>
          <p:nvPr/>
        </p:nvSpPr>
        <p:spPr>
          <a:xfrm xmlns:a="http://schemas.openxmlformats.org/drawingml/2006/main">
            <a:off x="1028700" y="42195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Record remarks and confirm receipt handling.</a:t>
            </a:r>
          </a:p>
        </p:txBody>
      </p:sp>
    </p:spTree>
    <p:extLst>
      <p:ext uri="{BB962C8B-B14F-4D97-AF65-F5344CB8AC3E}">
        <p14:creationId xmlns:p14="http://schemas.microsoft.com/office/powerpoint/2010/main" val="20856280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0BDB780-5BDD-4D57-9816-9269FAC8858B}"/>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FINANCE</a:t>
            </a:r>
          </a:p>
        </p:txBody>
      </p:sp>
      <p:sp>
        <p:nvSpPr>
          <p:cNvPr id="2" name="">
            <a:extLst xmlns:a="http://schemas.openxmlformats.org/drawingml/2006/main">
              <a:ext uri="{FF2B5EF4-FFF2-40B4-BE49-F238E27FC236}">
                <a16:creationId xmlns:a16="http://schemas.microsoft.com/office/drawing/2014/main" id="{ACD45CB9-A399-44E6-B71F-F24B1FE69D2B}"/>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Finance sends SMS reminders from the review form</a:t>
            </a:r>
          </a:p>
        </p:txBody>
      </p:sp>
      <p:sp>
        <p:nvSpPr>
          <p:cNvPr id="3" name="">
            <a:extLst xmlns:a="http://schemas.openxmlformats.org/drawingml/2006/main">
              <a:ext uri="{FF2B5EF4-FFF2-40B4-BE49-F238E27FC236}">
                <a16:creationId xmlns:a16="http://schemas.microsoft.com/office/drawing/2014/main" id="{15B7D31B-9B00-47FF-B043-B03F14C452F2}"/>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sp>
      <p:sp>
        <p:nvSpPr>
          <p:cNvPr id="4" name="">
            <a:extLst xmlns:a="http://schemas.openxmlformats.org/drawingml/2006/main">
              <a:ext uri="{FF2B5EF4-FFF2-40B4-BE49-F238E27FC236}">
                <a16:creationId xmlns:a16="http://schemas.microsoft.com/office/drawing/2014/main" id="{A5C9F21E-CE68-463C-B7D5-CE35B40C09EA}"/>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14</a:t>
            </a:r>
          </a:p>
        </p:txBody>
      </p:sp>
      <p:sp>
        <p:nvSpPr>
          <p:cNvPr id="5" name="">
            <a:extLst xmlns:a="http://schemas.openxmlformats.org/drawingml/2006/main">
              <a:ext uri="{FF2B5EF4-FFF2-40B4-BE49-F238E27FC236}">
                <a16:creationId xmlns:a16="http://schemas.microsoft.com/office/drawing/2014/main" id="{8E889E7D-A630-416E-9D8B-179D1C9B3B3D}"/>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7a4cdd03b624217"/>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3B45666-412B-4E02-B494-8846D0112E84}"/>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
            <a:extLst xmlns:a="http://schemas.openxmlformats.org/drawingml/2006/main">
              <a:ext uri="{FF2B5EF4-FFF2-40B4-BE49-F238E27FC236}">
                <a16:creationId xmlns:a16="http://schemas.microsoft.com/office/drawing/2014/main" id="{4E5B815C-7176-41C5-B57E-45E9C23A9E18}"/>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9" name="">
            <a:extLst xmlns:a="http://schemas.openxmlformats.org/drawingml/2006/main">
              <a:ext uri="{FF2B5EF4-FFF2-40B4-BE49-F238E27FC236}">
                <a16:creationId xmlns:a16="http://schemas.microsoft.com/office/drawing/2014/main" id="{E64F81EF-8ABB-4641-BC6C-F37DB44D23DC}"/>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
            <a:extLst xmlns:a="http://schemas.openxmlformats.org/drawingml/2006/main">
              <a:ext uri="{FF2B5EF4-FFF2-40B4-BE49-F238E27FC236}">
                <a16:creationId xmlns:a16="http://schemas.microsoft.com/office/drawing/2014/main" id="{047A9987-39F2-49B6-903A-D47496B46788}"/>
              </a:ext>
            </a:extLst>
          </p:cNvPr>
          <p:cNvSpPr>
            <a:spLocks xmlns:a="http://schemas.openxmlformats.org/drawingml/2006/main" noGrp="1"/>
          </p:cNvSpPr>
          <p:nvPr/>
        </p:nvSpPr>
        <p:spPr>
          <a:xfrm xmlns:a="http://schemas.openxmlformats.org/drawingml/2006/main">
            <a:off x="1028700" y="20859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Select Send in the report’s SMS column.</a:t>
            </a:r>
          </a:p>
        </p:txBody>
      </p:sp>
      <p:sp>
        <p:nvSpPr>
          <p:cNvPr id="11" name="">
            <a:extLst xmlns:a="http://schemas.openxmlformats.org/drawingml/2006/main">
              <a:ext uri="{FF2B5EF4-FFF2-40B4-BE49-F238E27FC236}">
                <a16:creationId xmlns:a16="http://schemas.microsoft.com/office/drawing/2014/main" id="{80CBC6DF-5F56-4BD8-954F-640BF5DEF157}"/>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12" name="">
            <a:extLst xmlns:a="http://schemas.openxmlformats.org/drawingml/2006/main">
              <a:ext uri="{FF2B5EF4-FFF2-40B4-BE49-F238E27FC236}">
                <a16:creationId xmlns:a16="http://schemas.microsoft.com/office/drawing/2014/main" id="{41487CAE-0BA7-4025-8989-AE796579A8FD}"/>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
            <a:extLst xmlns:a="http://schemas.openxmlformats.org/drawingml/2006/main">
              <a:ext uri="{FF2B5EF4-FFF2-40B4-BE49-F238E27FC236}">
                <a16:creationId xmlns:a16="http://schemas.microsoft.com/office/drawing/2014/main" id="{0D953D23-2DD2-442F-BF73-A2E714D6F321}"/>
              </a:ext>
            </a:extLst>
          </p:cNvPr>
          <p:cNvSpPr>
            <a:spLocks xmlns:a="http://schemas.openxmlformats.org/drawingml/2006/main" noGrp="1"/>
          </p:cNvSpPr>
          <p:nvPr/>
        </p:nvSpPr>
        <p:spPr>
          <a:xfrm xmlns:a="http://schemas.openxmlformats.org/drawingml/2006/main">
            <a:off x="1028700" y="31527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Verify the recipients and notification message.</a:t>
            </a:r>
          </a:p>
        </p:txBody>
      </p:sp>
      <p:sp>
        <p:nvSpPr>
          <p:cNvPr id="14" name="">
            <a:extLst xmlns:a="http://schemas.openxmlformats.org/drawingml/2006/main">
              <a:ext uri="{FF2B5EF4-FFF2-40B4-BE49-F238E27FC236}">
                <a16:creationId xmlns:a16="http://schemas.microsoft.com/office/drawing/2014/main" id="{67006A9F-570C-4B47-87AF-B59EF05BBD0F}"/>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15" name="">
            <a:extLst xmlns:a="http://schemas.openxmlformats.org/drawingml/2006/main">
              <a:ext uri="{FF2B5EF4-FFF2-40B4-BE49-F238E27FC236}">
                <a16:creationId xmlns:a16="http://schemas.microsoft.com/office/drawing/2014/main" id="{013267A0-8C84-406E-AA41-03308D3AAEE8}"/>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
            <a:extLst xmlns:a="http://schemas.openxmlformats.org/drawingml/2006/main">
              <a:ext uri="{FF2B5EF4-FFF2-40B4-BE49-F238E27FC236}">
                <a16:creationId xmlns:a16="http://schemas.microsoft.com/office/drawing/2014/main" id="{C5DC9DF9-1838-4ADF-BAB0-184701813629}"/>
              </a:ext>
            </a:extLst>
          </p:cNvPr>
          <p:cNvSpPr>
            <a:spLocks xmlns:a="http://schemas.openxmlformats.org/drawingml/2006/main" noGrp="1"/>
          </p:cNvSpPr>
          <p:nvPr/>
        </p:nvSpPr>
        <p:spPr>
          <a:xfrm xmlns:a="http://schemas.openxmlformats.org/drawingml/2006/main">
            <a:off x="1028700" y="42195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Review the preview, then select Send.</a:t>
            </a:r>
          </a:p>
        </p:txBody>
      </p:sp>
    </p:spTree>
    <p:extLst>
      <p:ext uri="{BB962C8B-B14F-4D97-AF65-F5344CB8AC3E}">
        <p14:creationId xmlns:p14="http://schemas.microsoft.com/office/powerpoint/2010/main" val="1491186298"/>
      </p:ext>
    </p:extLst>
  </p:cSld>
</p:sld>
</file>

<file path=ppt/slides/slide15.xml><?xml version="1.0" encoding="utf-8"?>
<p:sld xmlns:p="http://schemas.openxmlformats.org/presentationml/2006/main">
  <p:cSld>
    <p:bg>
      <p:bgPr>
        <a:solidFill xmlns:a="http://schemas.openxmlformats.org/drawingml/2006/main">
          <a:srgbClr val="092B52"/>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25CEC4D-9A79-433D-A7BD-6F8EB6CD02F6}"/>
              </a:ext>
            </a:extLst>
          </p:cNvPr>
          <p:cNvSpPr>
            <a:spLocks xmlns:a="http://schemas.openxmlformats.org/drawingml/2006/main" noGrp="1"/>
          </p:cNvSpPr>
          <p:nvPr/>
        </p:nvSpPr>
        <p:spPr>
          <a:xfrm xmlns:a="http://schemas.openxmlformats.org/drawingml/2006/main">
            <a:off x="514350" y="523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8FB2D6"/>
                </a:solidFill>
              </a:defRPr>
            </a:pPr>
            <a:r>
              <a:rPr sz="975" b="1">
                <a:solidFill>
                  <a:srgbClr val="8FB2D6"/>
                </a:solidFill>
              </a:rPr>
              <a:t>ROLES AND NEXT STEPS</a:t>
            </a:r>
          </a:p>
        </p:txBody>
      </p:sp>
      <p:sp>
        <p:nvSpPr>
          <p:cNvPr id="2" name="Rectangle 1">
            <a:extLst xmlns:a="http://schemas.openxmlformats.org/drawingml/2006/main">
              <a:ext uri="{FF2B5EF4-FFF2-40B4-BE49-F238E27FC236}">
                <a16:creationId xmlns:a16="http://schemas.microsoft.com/office/drawing/2014/main" id="{4FBA044F-D16F-4BAB-A1E2-7214BB7B5EF8}"/>
              </a:ext>
            </a:extLst>
          </p:cNvPr>
          <p:cNvSpPr>
            <a:spLocks xmlns:a="http://schemas.openxmlformats.org/drawingml/2006/main" noGrp="1"/>
          </p:cNvSpPr>
          <p:nvPr/>
        </p:nvSpPr>
        <p:spPr>
          <a:xfrm xmlns:a="http://schemas.openxmlformats.org/drawingml/2006/main">
            <a:off x="514350" y="990600"/>
            <a:ext cx="1000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925" b="0">
                <a:solidFill>
                  <a:srgbClr val="FFFFFF"/>
                </a:solidFill>
              </a:defRPr>
            </a:pPr>
            <a:r>
              <a:rPr sz="2925" b="0">
                <a:solidFill>
                  <a:srgbClr val="FFFFFF"/>
                </a:solidFill>
              </a:rPr>
              <a:t>Each role owns a clear part of the ERF process</a:t>
            </a:r>
          </a:p>
        </p:txBody>
      </p:sp>
      <p:sp>
        <p:nvSpPr>
          <p:cNvPr id="3" name="Rectangle: Rounded Corners 2">
            <a:extLst xmlns:a="http://schemas.openxmlformats.org/drawingml/2006/main">
              <a:ext uri="{FF2B5EF4-FFF2-40B4-BE49-F238E27FC236}">
                <a16:creationId xmlns:a16="http://schemas.microsoft.com/office/drawing/2014/main" id="{2B937F62-138D-47FB-AD64-3B5F472B1196}"/>
              </a:ext>
            </a:extLst>
          </p:cNvPr>
          <p:cNvSpPr>
            <a:spLocks xmlns:a="http://schemas.openxmlformats.org/drawingml/2006/main" noGrp="1"/>
          </p:cNvSpPr>
          <p:nvPr/>
        </p:nvSpPr>
        <p:spPr>
          <a:xfrm xmlns:a="http://schemas.openxmlformats.org/drawingml/2006/main">
            <a:off x="514350" y="2571750"/>
            <a:ext cx="3238500" cy="2381250"/>
          </a:xfrm>
          <a:prstGeom xmlns:a="http://schemas.openxmlformats.org/drawingml/2006/main" prst="roundRect">
            <a:avLst>
              <a:gd name="adj" fmla="val 3200"/>
            </a:avLst>
          </a:prstGeom>
          <a:solidFill xmlns:a="http://schemas.openxmlformats.org/drawingml/2006/main">
            <a:srgbClr val="103B67"/>
          </a:solidFill>
          <a:ln xmlns:a="http://schemas.openxmlformats.org/drawingml/2006/main" w="9525">
            <a:solidFill>
              <a:srgbClr val="315B84"/>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BE5D5798-C117-42AA-A995-B8E5B22E62AB}"/>
              </a:ext>
            </a:extLst>
          </p:cNvPr>
          <p:cNvSpPr>
            <a:spLocks xmlns:a="http://schemas.openxmlformats.org/drawingml/2006/main" noGrp="1"/>
          </p:cNvSpPr>
          <p:nvPr/>
        </p:nvSpPr>
        <p:spPr>
          <a:xfrm xmlns:a="http://schemas.openxmlformats.org/drawingml/2006/main">
            <a:off x="742950" y="2857500"/>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8FC1F3"/>
                </a:solidFill>
              </a:defRPr>
            </a:pPr>
            <a:r>
              <a:rPr sz="1050" b="1">
                <a:solidFill>
                  <a:srgbClr val="8FC1F3"/>
                </a:solidFill>
              </a:rPr>
              <a:t>EMPLOYEES</a:t>
            </a:r>
          </a:p>
        </p:txBody>
      </p:sp>
      <p:sp>
        <p:nvSpPr>
          <p:cNvPr id="5" name="Rectangle 4">
            <a:extLst xmlns:a="http://schemas.openxmlformats.org/drawingml/2006/main">
              <a:ext uri="{FF2B5EF4-FFF2-40B4-BE49-F238E27FC236}">
                <a16:creationId xmlns:a16="http://schemas.microsoft.com/office/drawing/2014/main" id="{5E8F93F4-F430-4DD4-816D-89974712F4AD}"/>
              </a:ext>
            </a:extLst>
          </p:cNvPr>
          <p:cNvSpPr>
            <a:spLocks xmlns:a="http://schemas.openxmlformats.org/drawingml/2006/main" noGrp="1"/>
          </p:cNvSpPr>
          <p:nvPr/>
        </p:nvSpPr>
        <p:spPr>
          <a:xfrm xmlns:a="http://schemas.openxmlformats.org/drawingml/2006/main">
            <a:off x="742950" y="3352800"/>
            <a:ext cx="27146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0">
                <a:solidFill>
                  <a:srgbClr val="FFFFFF"/>
                </a:solidFill>
              </a:defRPr>
            </a:pPr>
            <a:r>
              <a:rPr sz="1725" b="0">
                <a:solidFill>
                  <a:srgbClr val="FFFFFF"/>
                </a:solidFill>
              </a:rPr>
              <a:t>Maintain settings</a:t>
            </a:r>
          </a:p>
          <a:p xmlns:a="http://schemas.openxmlformats.org/drawingml/2006/main">
            <a:pPr>
              <a:buNone/>
              <a:defRPr sz="1725" b="0">
                <a:solidFill>
                  <a:srgbClr val="FFFFFF"/>
                </a:solidFill>
              </a:defRPr>
            </a:pPr>
            <a:r>
              <a:rPr sz="1725" b="0">
                <a:solidFill>
                  <a:srgbClr val="FFFFFF"/>
                </a:solidFill>
              </a:rPr>
              <a:t>Enter expenses</a:t>
            </a:r>
          </a:p>
          <a:p xmlns:a="http://schemas.openxmlformats.org/drawingml/2006/main">
            <a:pPr>
              <a:buNone/>
              <a:defRPr sz="1725" b="0">
                <a:solidFill>
                  <a:srgbClr val="FFFFFF"/>
                </a:solidFill>
              </a:defRPr>
            </a:pPr>
            <a:r>
              <a:rPr sz="1725" b="0">
                <a:solidFill>
                  <a:srgbClr val="FFFFFF"/>
                </a:solidFill>
              </a:rPr>
              <a:t>Review and file</a:t>
            </a:r>
          </a:p>
        </p:txBody>
      </p:sp>
      <p:sp>
        <p:nvSpPr>
          <p:cNvPr id="6" name="Rectangle: Rounded Corners 5">
            <a:extLst xmlns:a="http://schemas.openxmlformats.org/drawingml/2006/main">
              <a:ext uri="{FF2B5EF4-FFF2-40B4-BE49-F238E27FC236}">
                <a16:creationId xmlns:a16="http://schemas.microsoft.com/office/drawing/2014/main" id="{A59F9477-34C3-4637-A08A-73EF48F67AA8}"/>
              </a:ext>
            </a:extLst>
          </p:cNvPr>
          <p:cNvSpPr>
            <a:spLocks xmlns:a="http://schemas.openxmlformats.org/drawingml/2006/main" noGrp="1"/>
          </p:cNvSpPr>
          <p:nvPr/>
        </p:nvSpPr>
        <p:spPr>
          <a:xfrm xmlns:a="http://schemas.openxmlformats.org/drawingml/2006/main">
            <a:off x="4248150" y="2571750"/>
            <a:ext cx="3238500" cy="2381250"/>
          </a:xfrm>
          <a:prstGeom xmlns:a="http://schemas.openxmlformats.org/drawingml/2006/main" prst="roundRect">
            <a:avLst>
              <a:gd name="adj" fmla="val 3200"/>
            </a:avLst>
          </a:prstGeom>
          <a:solidFill xmlns:a="http://schemas.openxmlformats.org/drawingml/2006/main">
            <a:srgbClr val="103B67"/>
          </a:solidFill>
          <a:ln xmlns:a="http://schemas.openxmlformats.org/drawingml/2006/main" w="9525">
            <a:solidFill>
              <a:srgbClr val="315B84"/>
            </a:solid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61B0652F-1A20-4901-B7E7-41881A9736F6}"/>
              </a:ext>
            </a:extLst>
          </p:cNvPr>
          <p:cNvSpPr>
            <a:spLocks xmlns:a="http://schemas.openxmlformats.org/drawingml/2006/main" noGrp="1"/>
          </p:cNvSpPr>
          <p:nvPr/>
        </p:nvSpPr>
        <p:spPr>
          <a:xfrm xmlns:a="http://schemas.openxmlformats.org/drawingml/2006/main">
            <a:off x="4476750" y="2857500"/>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8FC1F3"/>
                </a:solidFill>
              </a:defRPr>
            </a:pPr>
            <a:r>
              <a:rPr sz="1050" b="1">
                <a:solidFill>
                  <a:srgbClr val="8FC1F3"/>
                </a:solidFill>
              </a:rPr>
              <a:t>MANAGERS</a:t>
            </a:r>
          </a:p>
        </p:txBody>
      </p:sp>
      <p:sp>
        <p:nvSpPr>
          <p:cNvPr id="8" name="Rectangle 7">
            <a:extLst xmlns:a="http://schemas.openxmlformats.org/drawingml/2006/main">
              <a:ext uri="{FF2B5EF4-FFF2-40B4-BE49-F238E27FC236}">
                <a16:creationId xmlns:a16="http://schemas.microsoft.com/office/drawing/2014/main" id="{7DE5986A-E45D-42AB-9993-4314F3AEBFBA}"/>
              </a:ext>
            </a:extLst>
          </p:cNvPr>
          <p:cNvSpPr>
            <a:spLocks xmlns:a="http://schemas.openxmlformats.org/drawingml/2006/main" noGrp="1"/>
          </p:cNvSpPr>
          <p:nvPr/>
        </p:nvSpPr>
        <p:spPr>
          <a:xfrm xmlns:a="http://schemas.openxmlformats.org/drawingml/2006/main">
            <a:off x="4476750" y="3352800"/>
            <a:ext cx="27146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0">
                <a:solidFill>
                  <a:srgbClr val="FFFFFF"/>
                </a:solidFill>
              </a:defRPr>
            </a:pPr>
            <a:r>
              <a:rPr sz="1725" b="0">
                <a:solidFill>
                  <a:srgbClr val="FFFFFF"/>
                </a:solidFill>
              </a:rPr>
              <a:t>Review submissions</a:t>
            </a:r>
          </a:p>
          <a:p xmlns:a="http://schemas.openxmlformats.org/drawingml/2006/main">
            <a:pPr>
              <a:buNone/>
              <a:defRPr sz="1725" b="0">
                <a:solidFill>
                  <a:srgbClr val="FFFFFF"/>
                </a:solidFill>
              </a:defRPr>
            </a:pPr>
            <a:r>
              <a:rPr sz="1725" b="0">
                <a:solidFill>
                  <a:srgbClr val="FFFFFF"/>
                </a:solidFill>
              </a:rPr>
              <a:t>Record decisions</a:t>
            </a:r>
          </a:p>
          <a:p xmlns:a="http://schemas.openxmlformats.org/drawingml/2006/main">
            <a:pPr>
              <a:buNone/>
              <a:defRPr sz="1725" b="0">
                <a:solidFill>
                  <a:srgbClr val="FFFFFF"/>
                </a:solidFill>
              </a:defRPr>
            </a:pPr>
            <a:r>
              <a:rPr sz="1725" b="0">
                <a:solidFill>
                  <a:srgbClr val="FFFFFF"/>
                </a:solidFill>
              </a:rPr>
              <a:t>Confirm the outcome</a:t>
            </a:r>
          </a:p>
        </p:txBody>
      </p:sp>
      <p:sp>
        <p:nvSpPr>
          <p:cNvPr id="9" name="Rectangle: Rounded Corners 8">
            <a:extLst xmlns:a="http://schemas.openxmlformats.org/drawingml/2006/main">
              <a:ext uri="{FF2B5EF4-FFF2-40B4-BE49-F238E27FC236}">
                <a16:creationId xmlns:a16="http://schemas.microsoft.com/office/drawing/2014/main" id="{84E532CE-4FDF-4ED3-A96B-DCB8B3DED56F}"/>
              </a:ext>
            </a:extLst>
          </p:cNvPr>
          <p:cNvSpPr>
            <a:spLocks xmlns:a="http://schemas.openxmlformats.org/drawingml/2006/main" noGrp="1"/>
          </p:cNvSpPr>
          <p:nvPr/>
        </p:nvSpPr>
        <p:spPr>
          <a:xfrm xmlns:a="http://schemas.openxmlformats.org/drawingml/2006/main">
            <a:off x="7981950" y="2571750"/>
            <a:ext cx="3238500" cy="2381250"/>
          </a:xfrm>
          <a:prstGeom xmlns:a="http://schemas.openxmlformats.org/drawingml/2006/main" prst="roundRect">
            <a:avLst>
              <a:gd name="adj" fmla="val 3200"/>
            </a:avLst>
          </a:prstGeom>
          <a:solidFill xmlns:a="http://schemas.openxmlformats.org/drawingml/2006/main">
            <a:srgbClr val="103B67"/>
          </a:solidFill>
          <a:ln xmlns:a="http://schemas.openxmlformats.org/drawingml/2006/main" w="9525">
            <a:solidFill>
              <a:srgbClr val="315B84"/>
            </a:solid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1A0064C5-454E-4F90-B71F-D1CAC814A89B}"/>
              </a:ext>
            </a:extLst>
          </p:cNvPr>
          <p:cNvSpPr>
            <a:spLocks xmlns:a="http://schemas.openxmlformats.org/drawingml/2006/main" noGrp="1"/>
          </p:cNvSpPr>
          <p:nvPr/>
        </p:nvSpPr>
        <p:spPr>
          <a:xfrm xmlns:a="http://schemas.openxmlformats.org/drawingml/2006/main">
            <a:off x="8210550" y="2857500"/>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8FC1F3"/>
                </a:solidFill>
              </a:defRPr>
            </a:pPr>
            <a:r>
              <a:rPr sz="1050" b="1">
                <a:solidFill>
                  <a:srgbClr val="8FC1F3"/>
                </a:solidFill>
              </a:rPr>
              <a:t>BOTH ROLES</a:t>
            </a:r>
          </a:p>
        </p:txBody>
      </p:sp>
      <p:sp>
        <p:nvSpPr>
          <p:cNvPr id="11" name="Rectangle 10">
            <a:extLst xmlns:a="http://schemas.openxmlformats.org/drawingml/2006/main">
              <a:ext uri="{FF2B5EF4-FFF2-40B4-BE49-F238E27FC236}">
                <a16:creationId xmlns:a16="http://schemas.microsoft.com/office/drawing/2014/main" id="{E309893A-EDCA-42B2-BCDF-8007FCC179C9}"/>
              </a:ext>
            </a:extLst>
          </p:cNvPr>
          <p:cNvSpPr>
            <a:spLocks xmlns:a="http://schemas.openxmlformats.org/drawingml/2006/main" noGrp="1"/>
          </p:cNvSpPr>
          <p:nvPr/>
        </p:nvSpPr>
        <p:spPr>
          <a:xfrm xmlns:a="http://schemas.openxmlformats.org/drawingml/2006/main">
            <a:off x="8210550" y="3352800"/>
            <a:ext cx="27146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0">
                <a:solidFill>
                  <a:srgbClr val="FFFFFF"/>
                </a:solidFill>
              </a:defRPr>
            </a:pPr>
            <a:r>
              <a:rPr sz="1725" b="0">
                <a:solidFill>
                  <a:srgbClr val="FFFFFF"/>
                </a:solidFill>
              </a:rPr>
              <a:t>Check the final report</a:t>
            </a:r>
          </a:p>
          <a:p xmlns:a="http://schemas.openxmlformats.org/drawingml/2006/main">
            <a:pPr>
              <a:buNone/>
              <a:defRPr sz="1725" b="0">
                <a:solidFill>
                  <a:srgbClr val="FFFFFF"/>
                </a:solidFill>
              </a:defRPr>
            </a:pPr>
            <a:r>
              <a:rPr sz="1725" b="0">
                <a:solidFill>
                  <a:srgbClr val="FFFFFF"/>
                </a:solidFill>
              </a:rPr>
              <a:t>Send or print correctly</a:t>
            </a:r>
          </a:p>
          <a:p xmlns:a="http://schemas.openxmlformats.org/drawingml/2006/main">
            <a:pPr>
              <a:buNone/>
              <a:defRPr sz="1725" b="0">
                <a:solidFill>
                  <a:srgbClr val="FFFFFF"/>
                </a:solidFill>
              </a:defRPr>
            </a:pPr>
            <a:r>
              <a:rPr sz="1725" b="0">
                <a:solidFill>
                  <a:srgbClr val="FFFFFF"/>
                </a:solidFill>
              </a:rPr>
              <a:t>Follow current policy</a:t>
            </a:r>
          </a:p>
        </p:txBody>
      </p:sp>
      <p:sp>
        <p:nvSpPr>
          <p:cNvPr id="12" name="Rectangle 11">
            <a:extLst xmlns:a="http://schemas.openxmlformats.org/drawingml/2006/main">
              <a:ext uri="{FF2B5EF4-FFF2-40B4-BE49-F238E27FC236}">
                <a16:creationId xmlns:a16="http://schemas.microsoft.com/office/drawing/2014/main" id="{AB5829CD-DDC5-4E3B-AE54-943FA2081D66}"/>
              </a:ext>
            </a:extLst>
          </p:cNvPr>
          <p:cNvSpPr>
            <a:spLocks xmlns:a="http://schemas.openxmlformats.org/drawingml/2006/main" noGrp="1"/>
          </p:cNvSpPr>
          <p:nvPr/>
        </p:nvSpPr>
        <p:spPr>
          <a:xfrm xmlns:a="http://schemas.openxmlformats.org/drawingml/2006/main">
            <a:off x="514350" y="56197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B7D0E8"/>
                </a:solidFill>
              </a:defRPr>
            </a:pPr>
            <a:r>
              <a:rPr sz="1500" b="0">
                <a:solidFill>
                  <a:srgbClr val="B7D0E8"/>
                </a:solidFill>
              </a:rPr>
              <a:t>Use this guide alongside your organization’s current expense policies.</a:t>
            </a:r>
          </a:p>
        </p:txBody>
      </p:sp>
      <p:sp>
        <p:nvSpPr>
          <p:cNvPr id="13" name="Rectangle 12">
            <a:extLst xmlns:a="http://schemas.openxmlformats.org/drawingml/2006/main">
              <a:ext uri="{FF2B5EF4-FFF2-40B4-BE49-F238E27FC236}">
                <a16:creationId xmlns:a16="http://schemas.microsoft.com/office/drawing/2014/main" id="{318D8FE8-4BE1-4589-9564-C6B27A6B36F1}"/>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8FB2D6"/>
                </a:solidFill>
              </a:defRPr>
            </a:pPr>
            <a:r>
              <a:rPr sz="750" b="0">
                <a:solidFill>
                  <a:srgbClr val="8FB2D6"/>
                </a:solidFill>
              </a:rPr>
              <a:t>15</a:t>
            </a:r>
          </a:p>
        </p:txBody>
      </p:sp>
      <p:sp>
        <p:nvSpPr>
          <p:cNvPr id="15" name="">
            <a:extLst xmlns:a="http://schemas.openxmlformats.org/drawingml/2006/main">
              <a:ext uri="{FF2B5EF4-FFF2-40B4-BE49-F238E27FC236}">
                <a16:creationId xmlns:a16="http://schemas.microsoft.com/office/drawing/2014/main" id="{73A8F015-E1B3-41AE-8D32-0537E7DECFF4}"/>
              </a:ext>
            </a:extLst>
          </p:cNvPr>
          <p:cNvSpPr>
            <a:spLocks xmlns:a="http://schemas.openxmlformats.org/drawingml/2006/main" noGrp="1"/>
          </p:cNvSpPr>
          <p:nvPr/>
        </p:nvSpPr>
        <p:spPr>
          <a:xfrm xmlns:a="http://schemas.openxmlformats.org/drawingml/2006/main">
            <a:off x="11191875" y="6334125"/>
            <a:ext cx="619125" cy="400050"/>
          </a:xfrm>
          <a:prstGeom xmlns:a="http://schemas.openxmlformats.org/drawingml/2006/main" prst="rect">
            <a:avLst/>
          </a:prstGeom>
          <a:solidFill xmlns:a="http://schemas.openxmlformats.org/drawingml/2006/main">
            <a:srgbClr val="092B52"/>
          </a:solidFill>
          <a:ln xmlns:a="http://schemas.openxmlformats.org/drawingml/2006/main" w="0">
            <a:solidFill>
              <a:srgbClr val="092B52"/>
            </a:solidFill>
            <a:prstDash val="solid"/>
          </a:ln>
        </p:spPr>
      </p:sp>
      <p:sp>
        <p:nvSpPr>
          <p:cNvPr id="16" name="">
            <a:extLst xmlns:a="http://schemas.openxmlformats.org/drawingml/2006/main">
              <a:ext uri="{FF2B5EF4-FFF2-40B4-BE49-F238E27FC236}">
                <a16:creationId xmlns:a16="http://schemas.microsoft.com/office/drawing/2014/main" id="{8EC20F86-EB78-490F-979C-2D1322554802}"/>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8FB2D6"/>
                </a:solidFill>
              </a:defRPr>
            </a:pPr>
            <a:r>
              <a:rPr sz="750" b="0">
                <a:solidFill>
                  <a:srgbClr val="8FB2D6"/>
                </a:solidFill>
              </a:rPr>
              <a:t>15</a:t>
            </a:r>
          </a:p>
        </p:txBody>
      </p:sp>
    </p:spTree>
    <p:extLst>
      <p:ext uri="{BB962C8B-B14F-4D97-AF65-F5344CB8AC3E}">
        <p14:creationId xmlns:p14="http://schemas.microsoft.com/office/powerpoint/2010/main" val="10695845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2026-07-24T08:43:29.6640000Z</dcterms:created>
  <dcterms:modified xsi:type="dcterms:W3CDTF">2026-07-24T08:43:29.6640000Z</dcterms:modified>
</coreProperties>
</file>